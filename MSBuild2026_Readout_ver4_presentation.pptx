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9" r:id="rId23"/>
    <p:sldId id="277" r:id="rId24"/>
    <p:sldId id="280" r:id="rId25"/>
    <p:sldId id="281" r:id="rId26"/>
    <p:sldId id="278"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343" autoAdjust="0"/>
  </p:normalViewPr>
  <p:slideViewPr>
    <p:cSldViewPr snapToGrid="0" snapToObjects="1">
      <p:cViewPr>
        <p:scale>
          <a:sx n="100" d="100"/>
          <a:sy n="100" d="100"/>
        </p:scale>
        <p:origin x="-1068"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2037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roughly 20-minute </a:t>
            </a:r>
            <a:r>
              <a:rPr lang="en-US" dirty="0" smtClean="0"/>
              <a:t>Summary </a:t>
            </a:r>
            <a:r>
              <a:rPr lang="en-US" dirty="0"/>
              <a:t>of Microsoft Build 2026. The central theme to anchor on is the shift from chat-based AI assistants toward agentic AI — systems that reason, coordinate tasks, and act across enterprise data rather than only responding to prompts. I'll cover the major themes and close with what they mean for our systems, including </a:t>
            </a:r>
            <a:r>
              <a:rPr lang="en-US" dirty="0" smtClean="0"/>
              <a:t>App Development. </a:t>
            </a:r>
            <a:r>
              <a:rPr lang="en-US" dirty="0"/>
              <a:t>I'll take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areas. We begin with the central shift toward agentic AI, then the platform Microsoft is positioning for building AI apps, where the AI runs, how it supports software development, the data and connector story including MCP, and finally the human-centered and sustainability themes plus concrete opportunities for us.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idea to take away, it is this shift. A traditional assistant responds to a prompt and waits. An agentic system pursues a goal: it plans, takes actions, uses tools, evaluates the result, and keeps going until the goal is met. The capability is built on the same models — the difference is that AI is now being applied to complete tasks end to end, not only to hold a conversation.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traditional workflow is hard-wired: A, then B, then C. An agentic workflow is a loop. You set a goal; the model reasons, chooses an action, uses a tool, evaluates the result, and decides whether to continue. The important point is that the sequence is no longer fully predefined — which is also why governance and oversight come up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capabilities appeared consistently across the sessions: planning, executing steps, using tools, retrieving information, making decisions within defined boundaries, and collaborating with other agents. For engineering teams the useful framing is intelligent workflow engines: analyzing data, generating reports, monitoring systems, running investigations, and handling exceptions across applications without driving each step manually.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agentic AI concrete, here are real tools as of mid-2026. General-purpose: Claude Cowork is a desktop agent for non-developers — in fact this deck was built in it; Gemini Spark is Google's always-on cloud agent you can email, which works across Gmail and Docs and connects through MCP; and OpenClaw is a popular open-source agent that runs locally with broad system access. Coding-focused: the new GitHub Copilot desktop app, announced at this very Build conference, lets you supervise several coding agents tied to issues and pull requests, and OpenAI Codex is a cloud coding agent that runs tests and opens pull requests. The takeaway is the common thread: each one acts rather than just answering, and several speak MCP, which connects back to earlier slides. Worth saying aloud: this area changes quickly, so treat the details as a snapshot.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positioned AI Foundry as the central platform to build and manage AI: model management, agent development, tool integration, security controls, and evaluation and monitoring in one place. The message to engineering teams is reuse and governance — rather than building many isolated chatbots, build shared capabilities with consistent controls.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major theme was reducing reliance on cloud-only processing. The previous pattern was user to cloud to response. The emerging pattern routes through on-device and enterprise models first, reserving the cloud for more complex reasoning. The benefits are lower cost from fewer tokens, better privacy because sensitive data can remain local, lower latency, and some offline capability. This aligns with advances in local models and AI-enabled PCs.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Closely related to the hybrid theme is the idea of personal AI — bringing AI closer to the user, sometimes described as a datacenter on the desktop. As hardware and model efficiency improve, more can run locally, which lowers cost and latency and improves privacy and local-data integration. Likely uses include document analysis, report generation, code assistance, and data exploration, with the cloud reserved for harder reasoning.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introduced additional MAI models focused on reasoning, efficiency, cost optimization, and enterprise integration. The strategic point matters more than any single model: Microsoft is positioning itself as both the platform you build on and a provider of the underlying models, owning more of the stack.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development theme is a shift from code completion to task completion. Rather than finishing the current line, tools such as GitHub Copilot and agent modes take a described outcome and help implement it — generating code, documentation, and refactors. A recurring concept was skills: reusable agent capabilities that are built once and reused across projects.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straightforward but important point: AI is only as useful as the data it can reach. Microsoft Fabric was presented as the backbone for connecting it — data integration, analytics, governance, and giving AI controlled access to enterprise information. That is what allows AI to answer business questions from organizational data rather than public sources. This sets up the MCP discussion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development I would emphasize most. MCP — the Model Context Protocol — is an open standard that lets AI securely interact with tools and data, comparable to how APIs standardized communication between applications. Today each integration is custom-built; with MCP, an agent uses one standard connector to reach SQL databases, document repositories, ticketing systems, and internal apps, while preserving governance and security. This is the direction Microsoft, GitHub, and others are converging 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MCP concrete: a reporting assistant could connect to SQL through MCP, read the schema, translate a plain-language request into SQL, run it within defined permissions, produce charts and summaries, and draft a report ready for review. Each step is achievable on its own; MCP is what allows a single agent to chain them together securely. This reflects the shared direction across major providers.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consistent theme from leadership was a human-first approach: responsible AI, human oversight, transparency, trust, and productivity. The stated goal is not to replace people but to augment human capability, with AI acting as a collaborator and a person remaining in the loop for decisions. This is a useful point to make for anyone concerned about the move toward agents.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less obvious theme was sustainability. Microsoft is working to reduce water and energy use and environmental impact through new cooling and infrastructure technologies. The notable engineering takeaway is that AI infrastructure now requires far more than software expertise — hardware, electrical, mechanical, materials, chemistry, and environmental disciplines — making it a genuinely interdisciplinary challenge.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relevant section for us. Four practical directions </a:t>
            </a:r>
            <a:r>
              <a:rPr lang="en-US"/>
              <a:t>for </a:t>
            </a:r>
            <a:r>
              <a:rPr lang="en-US" smtClean="0"/>
              <a:t>App Development: </a:t>
            </a:r>
            <a:r>
              <a:rPr lang="en-US" dirty="0"/>
              <a:t>reporting in plain language so users can ask for information rather than writing SQL; help with SQL and analysis, including explaining and improving queries; finding information across our databases, documentation, and policies; and assisting routine work such as reconciliation investigations, operational summaries, data-quality monitoring, and audit preparation. These align with the conference themes of agentic AI, enterprise data, and hybrid deployment.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balanced view before the close. The opportunities are real: productivity, automation, and more accessible data. So are the considerations: managing costs at scale, maintaining human oversight, keeping institutional knowledge in-house, avoiding overreliance, and establishing governance and approval for agentic systems. Microsoft's suggested approaches map to earlier themes — hybrid architectures, local execution, human approval workflows, and human-centered design.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points. First, the central shift is from assistants you prompt toward agentic systems that act. Second, it is practical for us: our own data, reached through standards like MCP, makes plain-language reporting and helpful assistants realistic </a:t>
            </a:r>
            <a:r>
              <a:rPr lang="en-US"/>
              <a:t>for </a:t>
            </a:r>
            <a:r>
              <a:rPr lang="en-US" smtClean="0"/>
              <a:t>App Development. </a:t>
            </a:r>
            <a:r>
              <a:rPr lang="en-US" dirty="0"/>
              <a:t>Third, adopt deliberately — start small, keep people in the loop, and stay mindful of cost and governance.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15400" y="0"/>
            <a:ext cx="3276295" cy="6858000"/>
          </a:xfrm>
          <a:prstGeom prst="rect">
            <a:avLst/>
          </a:prstGeom>
          <a:solidFill>
            <a:srgbClr val="EDF1F6"/>
          </a:solidFill>
          <a:ln w="12700">
            <a:solidFill>
              <a:srgbClr val="D7DCE3"/>
            </a:solidFill>
            <a:prstDash val="dash"/>
          </a:ln>
        </p:spPr>
      </p:sp>
      <p:sp>
        <p:nvSpPr>
          <p:cNvPr id="3" name="Text 1"/>
          <p:cNvSpPr/>
          <p:nvPr/>
        </p:nvSpPr>
        <p:spPr>
          <a:xfrm>
            <a:off x="8915400" y="3246120"/>
            <a:ext cx="3276295" cy="365760"/>
          </a:xfrm>
          <a:prstGeom prst="rect">
            <a:avLst/>
          </a:prstGeom>
          <a:noFill/>
          <a:ln/>
        </p:spPr>
        <p:txBody>
          <a:bodyPr wrap="square" lIns="0" tIns="0" rIns="0" bIns="0" rtlCol="0" anchor="ctr"/>
          <a:lstStyle/>
          <a:p>
            <a:pPr marL="0" indent="0" algn="ctr">
              <a:buNone/>
            </a:pPr>
            <a:r>
              <a:rPr lang="en-US" sz="1450" i="1" dirty="0">
                <a:solidFill>
                  <a:srgbClr val="6B7280"/>
                </a:solidFill>
                <a:latin typeface="Calibri" pitchFamily="34" charset="0"/>
                <a:ea typeface="Calibri" pitchFamily="34" charset="-122"/>
                <a:cs typeface="Calibri" pitchFamily="34" charset="-120"/>
              </a:rPr>
              <a:t>Add a cover photo here</a:t>
            </a:r>
            <a:endParaRPr lang="en-US" sz="1450" dirty="0"/>
          </a:p>
        </p:txBody>
      </p:sp>
      <p:sp>
        <p:nvSpPr>
          <p:cNvPr id="4" name="Text 2"/>
          <p:cNvSpPr/>
          <p:nvPr/>
        </p:nvSpPr>
        <p:spPr>
          <a:xfrm>
            <a:off x="822960" y="1691640"/>
            <a:ext cx="7498080" cy="365760"/>
          </a:xfrm>
          <a:prstGeom prst="rect">
            <a:avLst/>
          </a:prstGeom>
          <a:noFill/>
          <a:ln/>
        </p:spPr>
        <p:txBody>
          <a:bodyPr wrap="square" lIns="0" tIns="0" rIns="0" bIns="0" rtlCol="0" anchor="ctr"/>
          <a:lstStyle/>
          <a:p>
            <a:pPr marL="0" indent="0">
              <a:buNone/>
            </a:pPr>
            <a:r>
              <a:rPr lang="en-US" sz="1600" b="1" kern="0" spc="200" dirty="0">
                <a:solidFill>
                  <a:srgbClr val="0078D4"/>
                </a:solidFill>
                <a:latin typeface="Calibri" pitchFamily="34" charset="0"/>
                <a:ea typeface="Calibri" pitchFamily="34" charset="-122"/>
                <a:cs typeface="Calibri" pitchFamily="34" charset="-120"/>
              </a:rPr>
              <a:t>MICROSOFT BUILD 2026  —  CONFERENCE </a:t>
            </a:r>
            <a:r>
              <a:rPr lang="en-US" sz="1600" b="1" kern="0" spc="200" dirty="0" smtClean="0">
                <a:solidFill>
                  <a:srgbClr val="0078D4"/>
                </a:solidFill>
                <a:latin typeface="Calibri" pitchFamily="34" charset="0"/>
                <a:ea typeface="Calibri" pitchFamily="34" charset="-122"/>
                <a:cs typeface="Calibri" pitchFamily="34" charset="-120"/>
              </a:rPr>
              <a:t>Summary</a:t>
            </a:r>
            <a:endParaRPr lang="en-US" sz="1600" dirty="0"/>
          </a:p>
        </p:txBody>
      </p:sp>
      <p:sp>
        <p:nvSpPr>
          <p:cNvPr id="5" name="Text 3"/>
          <p:cNvSpPr/>
          <p:nvPr/>
        </p:nvSpPr>
        <p:spPr>
          <a:xfrm>
            <a:off x="795528" y="2103120"/>
            <a:ext cx="7589520" cy="1737360"/>
          </a:xfrm>
          <a:prstGeom prst="rect">
            <a:avLst/>
          </a:prstGeom>
          <a:noFill/>
          <a:ln/>
        </p:spPr>
        <p:txBody>
          <a:bodyPr wrap="square" lIns="0" tIns="0" rIns="0" bIns="0" rtlCol="0" anchor="ctr"/>
          <a:lstStyle/>
          <a:p>
            <a:pPr marL="0" indent="0">
              <a:lnSpc>
                <a:spcPct val="102000"/>
              </a:lnSpc>
              <a:buNone/>
            </a:pPr>
            <a:r>
              <a:rPr lang="en-US" sz="5400" b="1" dirty="0">
                <a:solidFill>
                  <a:srgbClr val="1F3551"/>
                </a:solidFill>
                <a:latin typeface="Calibri" pitchFamily="34" charset="0"/>
                <a:ea typeface="Calibri" pitchFamily="34" charset="-122"/>
                <a:cs typeface="Calibri" pitchFamily="34" charset="-120"/>
              </a:rPr>
              <a:t>From AI Assistants to Agentic Systems</a:t>
            </a:r>
            <a:endParaRPr lang="en-US" sz="5400" dirty="0"/>
          </a:p>
        </p:txBody>
      </p:sp>
      <p:sp>
        <p:nvSpPr>
          <p:cNvPr id="6" name="Text 4"/>
          <p:cNvSpPr/>
          <p:nvPr/>
        </p:nvSpPr>
        <p:spPr>
          <a:xfrm>
            <a:off x="822960" y="3886200"/>
            <a:ext cx="7315200" cy="457200"/>
          </a:xfrm>
          <a:prstGeom prst="rect">
            <a:avLst/>
          </a:prstGeom>
          <a:noFill/>
          <a:ln/>
        </p:spPr>
        <p:txBody>
          <a:bodyPr wrap="square" lIns="0" tIns="0" rIns="0" bIns="0" rtlCol="0" anchor="ctr"/>
          <a:lstStyle/>
          <a:p>
            <a:pPr marL="0" indent="0">
              <a:buNone/>
            </a:pPr>
            <a:r>
              <a:rPr lang="en-US" sz="2450" dirty="0">
                <a:solidFill>
                  <a:srgbClr val="2E2E2E"/>
                </a:solidFill>
                <a:latin typeface="Calibri" pitchFamily="34" charset="0"/>
                <a:ea typeface="Calibri" pitchFamily="34" charset="-122"/>
                <a:cs typeface="Calibri" pitchFamily="34" charset="-120"/>
              </a:rPr>
              <a:t>Key themes and opportunities in enterprise AI</a:t>
            </a:r>
            <a:endParaRPr lang="en-US" sz="2450" dirty="0"/>
          </a:p>
        </p:txBody>
      </p:sp>
      <p:sp>
        <p:nvSpPr>
          <p:cNvPr id="7" name="Text 5"/>
          <p:cNvSpPr/>
          <p:nvPr/>
        </p:nvSpPr>
        <p:spPr>
          <a:xfrm>
            <a:off x="822960" y="4480560"/>
            <a:ext cx="7223760" cy="731520"/>
          </a:xfrm>
          <a:prstGeom prst="rect">
            <a:avLst/>
          </a:prstGeom>
          <a:noFill/>
          <a:ln/>
        </p:spPr>
        <p:txBody>
          <a:bodyPr wrap="square" lIns="0" tIns="0" rIns="0" bIns="0" rtlCol="0" anchor="ctr"/>
          <a:lstStyle/>
          <a:p>
            <a:pPr marL="0" indent="0">
              <a:buNone/>
            </a:pPr>
            <a:r>
              <a:rPr lang="en-US" sz="1800" i="1" dirty="0">
                <a:solidFill>
                  <a:srgbClr val="6B7280"/>
                </a:solidFill>
                <a:latin typeface="Calibri" pitchFamily="34" charset="0"/>
                <a:ea typeface="Calibri" pitchFamily="34" charset="-122"/>
                <a:cs typeface="Calibri" pitchFamily="34" charset="-120"/>
              </a:rPr>
              <a:t>A short </a:t>
            </a:r>
            <a:r>
              <a:rPr lang="en-US" sz="1800" i="1" dirty="0" smtClean="0">
                <a:solidFill>
                  <a:srgbClr val="6B7280"/>
                </a:solidFill>
                <a:latin typeface="Calibri" pitchFamily="34" charset="0"/>
                <a:ea typeface="Calibri" pitchFamily="34" charset="-122"/>
                <a:cs typeface="Calibri" pitchFamily="34" charset="-120"/>
              </a:rPr>
              <a:t>Summary </a:t>
            </a:r>
            <a:r>
              <a:rPr lang="en-US" sz="1800" i="1" dirty="0">
                <a:solidFill>
                  <a:srgbClr val="6B7280"/>
                </a:solidFill>
                <a:latin typeface="Calibri" pitchFamily="34" charset="0"/>
                <a:ea typeface="Calibri" pitchFamily="34" charset="-122"/>
                <a:cs typeface="Calibri" pitchFamily="34" charset="-120"/>
              </a:rPr>
              <a:t>of what was presented at this year's conference, and what it could mean for the work we do.</a:t>
            </a:r>
            <a:endParaRPr lang="en-US" sz="1800" dirty="0"/>
          </a:p>
        </p:txBody>
      </p:sp>
      <p:sp>
        <p:nvSpPr>
          <p:cNvPr id="8" name="Text 6"/>
          <p:cNvSpPr/>
          <p:nvPr/>
        </p:nvSpPr>
        <p:spPr>
          <a:xfrm>
            <a:off x="822960" y="5486400"/>
            <a:ext cx="7315200" cy="365760"/>
          </a:xfrm>
          <a:prstGeom prst="rect">
            <a:avLst/>
          </a:prstGeom>
          <a:noFill/>
          <a:ln/>
        </p:spPr>
        <p:txBody>
          <a:bodyPr wrap="square" lIns="0" tIns="0" rIns="0" bIns="0" rtlCol="0" anchor="ctr"/>
          <a:lstStyle/>
          <a:p>
            <a:pPr marL="0" indent="0">
              <a:buNone/>
            </a:pPr>
            <a:r>
              <a:rPr lang="en-US" sz="1750" dirty="0">
                <a:solidFill>
                  <a:srgbClr val="2E2E2E"/>
                </a:solidFill>
                <a:latin typeface="Calibri" pitchFamily="34" charset="0"/>
                <a:ea typeface="Calibri" pitchFamily="34" charset="-122"/>
                <a:cs typeface="Calibri" pitchFamily="34" charset="-120"/>
              </a:rPr>
              <a:t>Merra Kokebie    |    20-minute </a:t>
            </a:r>
            <a:r>
              <a:rPr lang="en-US" sz="1750" dirty="0" smtClean="0">
                <a:solidFill>
                  <a:srgbClr val="2E2E2E"/>
                </a:solidFill>
                <a:latin typeface="Calibri" pitchFamily="34" charset="0"/>
                <a:ea typeface="Calibri" pitchFamily="34" charset="-122"/>
                <a:cs typeface="Calibri" pitchFamily="34" charset="-120"/>
              </a:rPr>
              <a:t>Summary    </a:t>
            </a:r>
            <a:r>
              <a:rPr lang="en-US" sz="1750" dirty="0">
                <a:solidFill>
                  <a:srgbClr val="2E2E2E"/>
                </a:solidFill>
                <a:latin typeface="Calibri" pitchFamily="34" charset="0"/>
                <a:ea typeface="Calibri" pitchFamily="34" charset="-122"/>
                <a:cs typeface="Calibri" pitchFamily="34" charset="-120"/>
              </a:rPr>
              <a:t>|    June 2026</a:t>
            </a:r>
            <a:endParaRPr lang="en-US" sz="17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ROADMAP</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What we'll cover</a:t>
            </a:r>
            <a:endParaRPr lang="en-US" sz="3700" dirty="0"/>
          </a:p>
        </p:txBody>
      </p:sp>
      <p:sp>
        <p:nvSpPr>
          <p:cNvPr id="4" name="Text 2"/>
          <p:cNvSpPr/>
          <p:nvPr/>
        </p:nvSpPr>
        <p:spPr>
          <a:xfrm>
            <a:off x="822960" y="190195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1</a:t>
            </a:r>
            <a:endParaRPr lang="en-US" sz="3850" dirty="0"/>
          </a:p>
        </p:txBody>
      </p:sp>
      <p:sp>
        <p:nvSpPr>
          <p:cNvPr id="5" name="Text 3"/>
          <p:cNvSpPr/>
          <p:nvPr/>
        </p:nvSpPr>
        <p:spPr>
          <a:xfrm>
            <a:off x="1463040" y="190195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The central shift</a:t>
            </a:r>
            <a:endParaRPr lang="en-US" sz="2300" dirty="0"/>
          </a:p>
        </p:txBody>
      </p:sp>
      <p:sp>
        <p:nvSpPr>
          <p:cNvPr id="6" name="Text 4"/>
          <p:cNvSpPr/>
          <p:nvPr/>
        </p:nvSpPr>
        <p:spPr>
          <a:xfrm>
            <a:off x="1463040" y="230428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Agentic AI and autonomous systems</a:t>
            </a:r>
            <a:endParaRPr lang="en-US" sz="1750" dirty="0"/>
          </a:p>
        </p:txBody>
      </p:sp>
      <p:sp>
        <p:nvSpPr>
          <p:cNvPr id="7" name="Text 5"/>
          <p:cNvSpPr/>
          <p:nvPr/>
        </p:nvSpPr>
        <p:spPr>
          <a:xfrm>
            <a:off x="6400800" y="190195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2</a:t>
            </a:r>
            <a:endParaRPr lang="en-US" sz="3850" dirty="0"/>
          </a:p>
        </p:txBody>
      </p:sp>
      <p:sp>
        <p:nvSpPr>
          <p:cNvPr id="8" name="Text 6"/>
          <p:cNvSpPr/>
          <p:nvPr/>
        </p:nvSpPr>
        <p:spPr>
          <a:xfrm>
            <a:off x="7040880" y="190195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The platform</a:t>
            </a:r>
            <a:endParaRPr lang="en-US" sz="2300" dirty="0"/>
          </a:p>
        </p:txBody>
      </p:sp>
      <p:sp>
        <p:nvSpPr>
          <p:cNvPr id="9" name="Text 7"/>
          <p:cNvSpPr/>
          <p:nvPr/>
        </p:nvSpPr>
        <p:spPr>
          <a:xfrm>
            <a:off x="7040880" y="230428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AI Foundry for building AI apps</a:t>
            </a:r>
            <a:endParaRPr lang="en-US" sz="1750" dirty="0"/>
          </a:p>
        </p:txBody>
      </p:sp>
      <p:sp>
        <p:nvSpPr>
          <p:cNvPr id="10" name="Text 8"/>
          <p:cNvSpPr/>
          <p:nvPr/>
        </p:nvSpPr>
        <p:spPr>
          <a:xfrm>
            <a:off x="822960" y="331927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3</a:t>
            </a:r>
            <a:endParaRPr lang="en-US" sz="3850" dirty="0"/>
          </a:p>
        </p:txBody>
      </p:sp>
      <p:sp>
        <p:nvSpPr>
          <p:cNvPr id="11" name="Text 9"/>
          <p:cNvSpPr/>
          <p:nvPr/>
        </p:nvSpPr>
        <p:spPr>
          <a:xfrm>
            <a:off x="1463040" y="331927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Where it runs</a:t>
            </a:r>
            <a:endParaRPr lang="en-US" sz="2300" dirty="0"/>
          </a:p>
        </p:txBody>
      </p:sp>
      <p:sp>
        <p:nvSpPr>
          <p:cNvPr id="12" name="Text 10"/>
          <p:cNvSpPr/>
          <p:nvPr/>
        </p:nvSpPr>
        <p:spPr>
          <a:xfrm>
            <a:off x="1463040" y="372160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Hybrid: cloud and on-device AI</a:t>
            </a:r>
            <a:endParaRPr lang="en-US" sz="1750" dirty="0"/>
          </a:p>
        </p:txBody>
      </p:sp>
      <p:sp>
        <p:nvSpPr>
          <p:cNvPr id="13" name="Text 11"/>
          <p:cNvSpPr/>
          <p:nvPr/>
        </p:nvSpPr>
        <p:spPr>
          <a:xfrm>
            <a:off x="6400800" y="331927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4</a:t>
            </a:r>
            <a:endParaRPr lang="en-US" sz="3850" dirty="0"/>
          </a:p>
        </p:txBody>
      </p:sp>
      <p:sp>
        <p:nvSpPr>
          <p:cNvPr id="14" name="Text 12"/>
          <p:cNvSpPr/>
          <p:nvPr/>
        </p:nvSpPr>
        <p:spPr>
          <a:xfrm>
            <a:off x="7040880" y="331927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Building software</a:t>
            </a:r>
            <a:endParaRPr lang="en-US" sz="2300" dirty="0"/>
          </a:p>
        </p:txBody>
      </p:sp>
      <p:sp>
        <p:nvSpPr>
          <p:cNvPr id="15" name="Text 13"/>
          <p:cNvSpPr/>
          <p:nvPr/>
        </p:nvSpPr>
        <p:spPr>
          <a:xfrm>
            <a:off x="7040880" y="372160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AI-assisted development and new models</a:t>
            </a:r>
            <a:endParaRPr lang="en-US" sz="1750" dirty="0"/>
          </a:p>
        </p:txBody>
      </p:sp>
      <p:sp>
        <p:nvSpPr>
          <p:cNvPr id="16" name="Text 14"/>
          <p:cNvSpPr/>
          <p:nvPr/>
        </p:nvSpPr>
        <p:spPr>
          <a:xfrm>
            <a:off x="822960" y="473659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5</a:t>
            </a:r>
            <a:endParaRPr lang="en-US" sz="3850" dirty="0"/>
          </a:p>
        </p:txBody>
      </p:sp>
      <p:sp>
        <p:nvSpPr>
          <p:cNvPr id="17" name="Text 15"/>
          <p:cNvSpPr/>
          <p:nvPr/>
        </p:nvSpPr>
        <p:spPr>
          <a:xfrm>
            <a:off x="1463040" y="473659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Data and access</a:t>
            </a:r>
            <a:endParaRPr lang="en-US" sz="2300" dirty="0"/>
          </a:p>
        </p:txBody>
      </p:sp>
      <p:sp>
        <p:nvSpPr>
          <p:cNvPr id="18" name="Text 16"/>
          <p:cNvSpPr/>
          <p:nvPr/>
        </p:nvSpPr>
        <p:spPr>
          <a:xfrm>
            <a:off x="1463040" y="513892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Enterprise data, Fabric and MCP</a:t>
            </a:r>
            <a:endParaRPr lang="en-US" sz="1750" dirty="0"/>
          </a:p>
        </p:txBody>
      </p:sp>
      <p:sp>
        <p:nvSpPr>
          <p:cNvPr id="19" name="Text 17"/>
          <p:cNvSpPr/>
          <p:nvPr/>
        </p:nvSpPr>
        <p:spPr>
          <a:xfrm>
            <a:off x="6400800" y="4736592"/>
            <a:ext cx="548640" cy="640080"/>
          </a:xfrm>
          <a:prstGeom prst="rect">
            <a:avLst/>
          </a:prstGeom>
          <a:noFill/>
          <a:ln/>
        </p:spPr>
        <p:txBody>
          <a:bodyPr wrap="square" lIns="0" tIns="0" rIns="0" bIns="0" rtlCol="0" anchor="ctr"/>
          <a:lstStyle/>
          <a:p>
            <a:pPr marL="0" indent="0">
              <a:buNone/>
            </a:pPr>
            <a:r>
              <a:rPr lang="en-US" sz="3850" b="1" dirty="0">
                <a:solidFill>
                  <a:srgbClr val="0078D4"/>
                </a:solidFill>
                <a:latin typeface="Calibri" pitchFamily="34" charset="0"/>
                <a:ea typeface="Calibri" pitchFamily="34" charset="-122"/>
                <a:cs typeface="Calibri" pitchFamily="34" charset="-120"/>
              </a:rPr>
              <a:t>6</a:t>
            </a:r>
            <a:endParaRPr lang="en-US" sz="3850" dirty="0"/>
          </a:p>
        </p:txBody>
      </p:sp>
      <p:sp>
        <p:nvSpPr>
          <p:cNvPr id="20" name="Text 18"/>
          <p:cNvSpPr/>
          <p:nvPr/>
        </p:nvSpPr>
        <p:spPr>
          <a:xfrm>
            <a:off x="7040880" y="4736592"/>
            <a:ext cx="420624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People and planet</a:t>
            </a:r>
            <a:endParaRPr lang="en-US" sz="2300" dirty="0"/>
          </a:p>
        </p:txBody>
      </p:sp>
      <p:sp>
        <p:nvSpPr>
          <p:cNvPr id="21" name="Text 19"/>
          <p:cNvSpPr/>
          <p:nvPr/>
        </p:nvSpPr>
        <p:spPr>
          <a:xfrm>
            <a:off x="7040880" y="5138928"/>
            <a:ext cx="4480560" cy="54864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Human-centered AI and what it means for us</a:t>
            </a:r>
            <a:endParaRPr lang="en-US" sz="1750" dirty="0"/>
          </a:p>
        </p:txBody>
      </p:sp>
      <p:sp>
        <p:nvSpPr>
          <p:cNvPr id="22" name="Text 20"/>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23" name="Text 21"/>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2</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THE CENTRAL SHIFT</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From assistants you prompt to systems that act</a:t>
            </a:r>
            <a:endParaRPr lang="en-US" sz="3700" dirty="0"/>
          </a:p>
        </p:txBody>
      </p:sp>
      <p:sp>
        <p:nvSpPr>
          <p:cNvPr id="4" name="Shape 2"/>
          <p:cNvSpPr/>
          <p:nvPr/>
        </p:nvSpPr>
        <p:spPr>
          <a:xfrm>
            <a:off x="822960" y="1965960"/>
            <a:ext cx="4983480" cy="1828800"/>
          </a:xfrm>
          <a:prstGeom prst="rect">
            <a:avLst/>
          </a:prstGeom>
          <a:solidFill>
            <a:srgbClr val="FFFFFF"/>
          </a:solidFill>
          <a:ln w="12700">
            <a:solidFill>
              <a:srgbClr val="D7DCE3"/>
            </a:solidFill>
            <a:prstDash val="solid"/>
          </a:ln>
        </p:spPr>
      </p:sp>
      <p:sp>
        <p:nvSpPr>
          <p:cNvPr id="5" name="Text 3"/>
          <p:cNvSpPr/>
          <p:nvPr/>
        </p:nvSpPr>
        <p:spPr>
          <a:xfrm>
            <a:off x="1097280" y="2240280"/>
            <a:ext cx="4434840" cy="320040"/>
          </a:xfrm>
          <a:prstGeom prst="rect">
            <a:avLst/>
          </a:prstGeom>
          <a:noFill/>
          <a:ln/>
        </p:spPr>
        <p:txBody>
          <a:bodyPr wrap="square" lIns="0" tIns="0" rIns="0" bIns="0" rtlCol="0" anchor="ctr"/>
          <a:lstStyle/>
          <a:p>
            <a:pPr marL="0" indent="0">
              <a:buNone/>
            </a:pPr>
            <a:r>
              <a:rPr lang="en-US" sz="1550" b="1" kern="0" spc="100" dirty="0">
                <a:solidFill>
                  <a:srgbClr val="6B7280"/>
                </a:solidFill>
                <a:latin typeface="Calibri" pitchFamily="34" charset="0"/>
                <a:ea typeface="Calibri" pitchFamily="34" charset="-122"/>
                <a:cs typeface="Calibri" pitchFamily="34" charset="-120"/>
              </a:rPr>
              <a:t>THE TRADITIONAL ASSISTANT</a:t>
            </a:r>
            <a:endParaRPr lang="en-US" sz="1550" dirty="0"/>
          </a:p>
        </p:txBody>
      </p:sp>
      <p:sp>
        <p:nvSpPr>
          <p:cNvPr id="6" name="Text 4"/>
          <p:cNvSpPr/>
          <p:nvPr/>
        </p:nvSpPr>
        <p:spPr>
          <a:xfrm>
            <a:off x="1097280" y="2697480"/>
            <a:ext cx="4434840" cy="914400"/>
          </a:xfrm>
          <a:prstGeom prst="rect">
            <a:avLst/>
          </a:prstGeom>
          <a:noFill/>
          <a:ln/>
        </p:spPr>
        <p:txBody>
          <a:bodyPr wrap="square" lIns="0" tIns="0" rIns="0" bIns="0" rtlCol="0" anchor="ctr"/>
          <a:lstStyle/>
          <a:p>
            <a:pPr marL="0" indent="0">
              <a:buNone/>
            </a:pPr>
            <a:r>
              <a:rPr lang="en-US" sz="2100" dirty="0">
                <a:solidFill>
                  <a:srgbClr val="2E2E2E"/>
                </a:solidFill>
                <a:latin typeface="Calibri" pitchFamily="34" charset="0"/>
                <a:ea typeface="Calibri" pitchFamily="34" charset="-122"/>
                <a:cs typeface="Calibri" pitchFamily="34" charset="-120"/>
              </a:rPr>
              <a:t>Responds to a prompt, then waits for the next instruction.</a:t>
            </a:r>
            <a:endParaRPr lang="en-US" sz="2100" dirty="0"/>
          </a:p>
        </p:txBody>
      </p:sp>
      <p:sp>
        <p:nvSpPr>
          <p:cNvPr id="7" name="Shape 5"/>
          <p:cNvSpPr/>
          <p:nvPr/>
        </p:nvSpPr>
        <p:spPr>
          <a:xfrm>
            <a:off x="6355080" y="1965960"/>
            <a:ext cx="4983480" cy="1828800"/>
          </a:xfrm>
          <a:prstGeom prst="rect">
            <a:avLst/>
          </a:prstGeom>
          <a:solidFill>
            <a:srgbClr val="FFFFFF"/>
          </a:solidFill>
          <a:ln w="12700">
            <a:solidFill>
              <a:srgbClr val="D7DCE3"/>
            </a:solidFill>
            <a:prstDash val="solid"/>
          </a:ln>
        </p:spPr>
      </p:sp>
      <p:sp>
        <p:nvSpPr>
          <p:cNvPr id="8" name="Shape 6"/>
          <p:cNvSpPr/>
          <p:nvPr/>
        </p:nvSpPr>
        <p:spPr>
          <a:xfrm>
            <a:off x="6355080" y="1965960"/>
            <a:ext cx="4983480" cy="64008"/>
          </a:xfrm>
          <a:prstGeom prst="rect">
            <a:avLst/>
          </a:prstGeom>
          <a:solidFill>
            <a:srgbClr val="0078D4"/>
          </a:solidFill>
          <a:ln/>
        </p:spPr>
      </p:sp>
      <p:sp>
        <p:nvSpPr>
          <p:cNvPr id="9" name="Text 7"/>
          <p:cNvSpPr/>
          <p:nvPr/>
        </p:nvSpPr>
        <p:spPr>
          <a:xfrm>
            <a:off x="6629400" y="2240280"/>
            <a:ext cx="4434840" cy="320040"/>
          </a:xfrm>
          <a:prstGeom prst="rect">
            <a:avLst/>
          </a:prstGeom>
          <a:noFill/>
          <a:ln/>
        </p:spPr>
        <p:txBody>
          <a:bodyPr wrap="square" lIns="0" tIns="0" rIns="0" bIns="0" rtlCol="0" anchor="ctr"/>
          <a:lstStyle/>
          <a:p>
            <a:pPr marL="0" indent="0">
              <a:buNone/>
            </a:pPr>
            <a:r>
              <a:rPr lang="en-US" sz="1550" b="1" kern="0" spc="100" dirty="0">
                <a:solidFill>
                  <a:srgbClr val="0078D4"/>
                </a:solidFill>
                <a:latin typeface="Calibri" pitchFamily="34" charset="0"/>
                <a:ea typeface="Calibri" pitchFamily="34" charset="-122"/>
                <a:cs typeface="Calibri" pitchFamily="34" charset="-120"/>
              </a:rPr>
              <a:t>THE AGENTIC SYSTEM</a:t>
            </a:r>
            <a:endParaRPr lang="en-US" sz="1550" dirty="0"/>
          </a:p>
        </p:txBody>
      </p:sp>
      <p:sp>
        <p:nvSpPr>
          <p:cNvPr id="10" name="Text 8"/>
          <p:cNvSpPr/>
          <p:nvPr/>
        </p:nvSpPr>
        <p:spPr>
          <a:xfrm>
            <a:off x="6629400" y="2697480"/>
            <a:ext cx="4434840" cy="914400"/>
          </a:xfrm>
          <a:prstGeom prst="rect">
            <a:avLst/>
          </a:prstGeom>
          <a:noFill/>
          <a:ln/>
        </p:spPr>
        <p:txBody>
          <a:bodyPr wrap="square" lIns="0" tIns="0" rIns="0" bIns="0" rtlCol="0" anchor="ctr"/>
          <a:lstStyle/>
          <a:p>
            <a:pPr marL="0" indent="0">
              <a:buNone/>
            </a:pPr>
            <a:r>
              <a:rPr lang="en-US" sz="2100" dirty="0">
                <a:solidFill>
                  <a:srgbClr val="2E2E2E"/>
                </a:solidFill>
                <a:latin typeface="Calibri" pitchFamily="34" charset="0"/>
                <a:ea typeface="Calibri" pitchFamily="34" charset="-122"/>
                <a:cs typeface="Calibri" pitchFamily="34" charset="-120"/>
              </a:rPr>
              <a:t>Pursues a goal — planning, taking actions, and coordinating across systems.</a:t>
            </a:r>
            <a:endParaRPr lang="en-US" sz="2100" dirty="0"/>
          </a:p>
        </p:txBody>
      </p:sp>
      <p:sp>
        <p:nvSpPr>
          <p:cNvPr id="11" name="Text 9"/>
          <p:cNvSpPr/>
          <p:nvPr/>
        </p:nvSpPr>
        <p:spPr>
          <a:xfrm>
            <a:off x="822960" y="4297680"/>
            <a:ext cx="10515600" cy="1463040"/>
          </a:xfrm>
          <a:prstGeom prst="rect">
            <a:avLst/>
          </a:prstGeom>
          <a:noFill/>
          <a:ln/>
        </p:spPr>
        <p:txBody>
          <a:bodyPr wrap="square" lIns="0" tIns="0" rIns="0" bIns="0" rtlCol="0" anchor="ctr"/>
          <a:lstStyle/>
          <a:p>
            <a:pPr marL="0" indent="0">
              <a:lnSpc>
                <a:spcPct val="115000"/>
              </a:lnSpc>
              <a:buNone/>
            </a:pPr>
            <a:r>
              <a:rPr lang="en-US" sz="2050" b="1" dirty="0">
                <a:solidFill>
                  <a:srgbClr val="1F3551"/>
                </a:solidFill>
                <a:latin typeface="Calibri" pitchFamily="34" charset="0"/>
                <a:ea typeface="Calibri" pitchFamily="34" charset="-122"/>
                <a:cs typeface="Calibri" pitchFamily="34" charset="-120"/>
              </a:rPr>
              <a:t>What this means.  </a:t>
            </a:r>
            <a:r>
              <a:rPr lang="en-US" sz="2050" dirty="0">
                <a:solidFill>
                  <a:srgbClr val="3A3A3A"/>
                </a:solidFill>
                <a:latin typeface="Calibri" pitchFamily="34" charset="0"/>
                <a:ea typeface="Calibri" pitchFamily="34" charset="-122"/>
                <a:cs typeface="Calibri" pitchFamily="34" charset="-120"/>
              </a:rPr>
              <a:t>Agentic AI doesn't only answer — it plans, uses the tools available to it, checks the result, and keeps going until the goal is met. It's the same underlying technology, now applied to completing tasks rather than only holding a conversation.</a:t>
            </a:r>
            <a:endParaRPr lang="en-US" sz="2050" dirty="0"/>
          </a:p>
        </p:txBody>
      </p:sp>
      <p:sp>
        <p:nvSpPr>
          <p:cNvPr id="12" name="Text 10"/>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3" name="Text 11"/>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3</a:t>
            </a:r>
            <a:endParaRPr lang="en-US" sz="11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AGENTIC AI</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From fixed steps to goal-driven loops</a:t>
            </a:r>
            <a:endParaRPr lang="en-US" sz="3700" dirty="0"/>
          </a:p>
        </p:txBody>
      </p:sp>
      <p:sp>
        <p:nvSpPr>
          <p:cNvPr id="4" name="Shape 2"/>
          <p:cNvSpPr/>
          <p:nvPr/>
        </p:nvSpPr>
        <p:spPr>
          <a:xfrm>
            <a:off x="822960" y="1965960"/>
            <a:ext cx="4983480" cy="2606040"/>
          </a:xfrm>
          <a:prstGeom prst="rect">
            <a:avLst/>
          </a:prstGeom>
          <a:solidFill>
            <a:srgbClr val="F5F7FA"/>
          </a:solidFill>
          <a:ln w="12700">
            <a:solidFill>
              <a:srgbClr val="D7DCE3"/>
            </a:solidFill>
            <a:prstDash val="solid"/>
          </a:ln>
        </p:spPr>
      </p:sp>
      <p:sp>
        <p:nvSpPr>
          <p:cNvPr id="5" name="Text 3"/>
          <p:cNvSpPr/>
          <p:nvPr/>
        </p:nvSpPr>
        <p:spPr>
          <a:xfrm>
            <a:off x="1097280" y="2194560"/>
            <a:ext cx="4434840" cy="365760"/>
          </a:xfrm>
          <a:prstGeom prst="rect">
            <a:avLst/>
          </a:prstGeom>
          <a:noFill/>
          <a:ln/>
        </p:spPr>
        <p:txBody>
          <a:bodyPr wrap="square" lIns="0" tIns="0" rIns="0" bIns="0" rtlCol="0" anchor="ctr"/>
          <a:lstStyle/>
          <a:p>
            <a:pPr marL="0" indent="0">
              <a:buNone/>
            </a:pPr>
            <a:r>
              <a:rPr lang="en-US" sz="2050" b="1" dirty="0">
                <a:solidFill>
                  <a:srgbClr val="1F3551"/>
                </a:solidFill>
                <a:latin typeface="Calibri" pitchFamily="34" charset="0"/>
                <a:ea typeface="Calibri" pitchFamily="34" charset="-122"/>
                <a:cs typeface="Calibri" pitchFamily="34" charset="-120"/>
              </a:rPr>
              <a:t>A traditional workflow</a:t>
            </a:r>
            <a:endParaRPr lang="en-US" sz="2050" dirty="0"/>
          </a:p>
        </p:txBody>
      </p:sp>
      <p:sp>
        <p:nvSpPr>
          <p:cNvPr id="6" name="Shape 4"/>
          <p:cNvSpPr/>
          <p:nvPr/>
        </p:nvSpPr>
        <p:spPr>
          <a:xfrm>
            <a:off x="1097280" y="2788920"/>
            <a:ext cx="1188720" cy="640080"/>
          </a:xfrm>
          <a:prstGeom prst="rect">
            <a:avLst/>
          </a:prstGeom>
          <a:solidFill>
            <a:srgbClr val="FFFFFF"/>
          </a:solidFill>
          <a:ln w="12700">
            <a:solidFill>
              <a:srgbClr val="D7DCE3"/>
            </a:solidFill>
            <a:prstDash val="solid"/>
          </a:ln>
        </p:spPr>
      </p:sp>
      <p:sp>
        <p:nvSpPr>
          <p:cNvPr id="7" name="Text 5"/>
          <p:cNvSpPr/>
          <p:nvPr/>
        </p:nvSpPr>
        <p:spPr>
          <a:xfrm>
            <a:off x="1097280" y="2788920"/>
            <a:ext cx="1188720" cy="640080"/>
          </a:xfrm>
          <a:prstGeom prst="rect">
            <a:avLst/>
          </a:prstGeom>
          <a:noFill/>
          <a:ln/>
        </p:spPr>
        <p:txBody>
          <a:bodyPr wrap="square" lIns="0" tIns="0" rIns="0" bIns="0" rtlCol="0" anchor="ctr"/>
          <a:lstStyle/>
          <a:p>
            <a:pPr marL="0" indent="0" algn="ctr">
              <a:buNone/>
            </a:pPr>
            <a:r>
              <a:rPr lang="en-US" sz="1750" b="1" dirty="0">
                <a:solidFill>
                  <a:srgbClr val="1F3551"/>
                </a:solidFill>
                <a:latin typeface="Calibri" pitchFamily="34" charset="0"/>
                <a:ea typeface="Calibri" pitchFamily="34" charset="-122"/>
                <a:cs typeface="Calibri" pitchFamily="34" charset="-120"/>
              </a:rPr>
              <a:t>Step A</a:t>
            </a:r>
            <a:endParaRPr lang="en-US" sz="1750" dirty="0"/>
          </a:p>
        </p:txBody>
      </p:sp>
      <p:sp>
        <p:nvSpPr>
          <p:cNvPr id="8" name="Text 6"/>
          <p:cNvSpPr/>
          <p:nvPr/>
        </p:nvSpPr>
        <p:spPr>
          <a:xfrm>
            <a:off x="2322576" y="2788920"/>
            <a:ext cx="429768" cy="640080"/>
          </a:xfrm>
          <a:prstGeom prst="rect">
            <a:avLst/>
          </a:prstGeom>
          <a:noFill/>
          <a:ln/>
        </p:spPr>
        <p:txBody>
          <a:bodyPr wrap="square" lIns="0" tIns="0" rIns="0" bIns="0" rtlCol="0" anchor="ctr"/>
          <a:lstStyle/>
          <a:p>
            <a:pPr marL="0" indent="0" algn="ctr">
              <a:buNone/>
            </a:pPr>
            <a:r>
              <a:rPr lang="en-US" sz="2300" dirty="0">
                <a:solidFill>
                  <a:srgbClr val="6B7280"/>
                </a:solidFill>
                <a:latin typeface="Calibri" pitchFamily="34" charset="0"/>
                <a:ea typeface="Calibri" pitchFamily="34" charset="-122"/>
                <a:cs typeface="Calibri" pitchFamily="34" charset="-120"/>
              </a:rPr>
              <a:t>→</a:t>
            </a:r>
            <a:endParaRPr lang="en-US" sz="2300" dirty="0"/>
          </a:p>
        </p:txBody>
      </p:sp>
      <p:sp>
        <p:nvSpPr>
          <p:cNvPr id="9" name="Shape 7"/>
          <p:cNvSpPr/>
          <p:nvPr/>
        </p:nvSpPr>
        <p:spPr>
          <a:xfrm>
            <a:off x="2788920" y="2788920"/>
            <a:ext cx="1188720" cy="640080"/>
          </a:xfrm>
          <a:prstGeom prst="rect">
            <a:avLst/>
          </a:prstGeom>
          <a:solidFill>
            <a:srgbClr val="FFFFFF"/>
          </a:solidFill>
          <a:ln w="12700">
            <a:solidFill>
              <a:srgbClr val="D7DCE3"/>
            </a:solidFill>
            <a:prstDash val="solid"/>
          </a:ln>
        </p:spPr>
      </p:sp>
      <p:sp>
        <p:nvSpPr>
          <p:cNvPr id="10" name="Text 8"/>
          <p:cNvSpPr/>
          <p:nvPr/>
        </p:nvSpPr>
        <p:spPr>
          <a:xfrm>
            <a:off x="2788920" y="2788920"/>
            <a:ext cx="1188720" cy="640080"/>
          </a:xfrm>
          <a:prstGeom prst="rect">
            <a:avLst/>
          </a:prstGeom>
          <a:noFill/>
          <a:ln/>
        </p:spPr>
        <p:txBody>
          <a:bodyPr wrap="square" lIns="0" tIns="0" rIns="0" bIns="0" rtlCol="0" anchor="ctr"/>
          <a:lstStyle/>
          <a:p>
            <a:pPr marL="0" indent="0" algn="ctr">
              <a:buNone/>
            </a:pPr>
            <a:r>
              <a:rPr lang="en-US" sz="1750" b="1" dirty="0">
                <a:solidFill>
                  <a:srgbClr val="1F3551"/>
                </a:solidFill>
                <a:latin typeface="Calibri" pitchFamily="34" charset="0"/>
                <a:ea typeface="Calibri" pitchFamily="34" charset="-122"/>
                <a:cs typeface="Calibri" pitchFamily="34" charset="-120"/>
              </a:rPr>
              <a:t>Step B</a:t>
            </a:r>
            <a:endParaRPr lang="en-US" sz="1750" dirty="0"/>
          </a:p>
        </p:txBody>
      </p:sp>
      <p:sp>
        <p:nvSpPr>
          <p:cNvPr id="11" name="Text 9"/>
          <p:cNvSpPr/>
          <p:nvPr/>
        </p:nvSpPr>
        <p:spPr>
          <a:xfrm>
            <a:off x="4014216" y="2788920"/>
            <a:ext cx="429768" cy="640080"/>
          </a:xfrm>
          <a:prstGeom prst="rect">
            <a:avLst/>
          </a:prstGeom>
          <a:noFill/>
          <a:ln/>
        </p:spPr>
        <p:txBody>
          <a:bodyPr wrap="square" lIns="0" tIns="0" rIns="0" bIns="0" rtlCol="0" anchor="ctr"/>
          <a:lstStyle/>
          <a:p>
            <a:pPr marL="0" indent="0" algn="ctr">
              <a:buNone/>
            </a:pPr>
            <a:r>
              <a:rPr lang="en-US" sz="2300" dirty="0">
                <a:solidFill>
                  <a:srgbClr val="6B7280"/>
                </a:solidFill>
                <a:latin typeface="Calibri" pitchFamily="34" charset="0"/>
                <a:ea typeface="Calibri" pitchFamily="34" charset="-122"/>
                <a:cs typeface="Calibri" pitchFamily="34" charset="-120"/>
              </a:rPr>
              <a:t>→</a:t>
            </a:r>
            <a:endParaRPr lang="en-US" sz="2300" dirty="0"/>
          </a:p>
        </p:txBody>
      </p:sp>
      <p:sp>
        <p:nvSpPr>
          <p:cNvPr id="12" name="Shape 10"/>
          <p:cNvSpPr/>
          <p:nvPr/>
        </p:nvSpPr>
        <p:spPr>
          <a:xfrm>
            <a:off x="4480560" y="2788920"/>
            <a:ext cx="1188720" cy="640080"/>
          </a:xfrm>
          <a:prstGeom prst="rect">
            <a:avLst/>
          </a:prstGeom>
          <a:solidFill>
            <a:srgbClr val="FFFFFF"/>
          </a:solidFill>
          <a:ln w="12700">
            <a:solidFill>
              <a:srgbClr val="D7DCE3"/>
            </a:solidFill>
            <a:prstDash val="solid"/>
          </a:ln>
        </p:spPr>
      </p:sp>
      <p:sp>
        <p:nvSpPr>
          <p:cNvPr id="13" name="Text 11"/>
          <p:cNvSpPr/>
          <p:nvPr/>
        </p:nvSpPr>
        <p:spPr>
          <a:xfrm>
            <a:off x="4480560" y="2788920"/>
            <a:ext cx="1188720" cy="640080"/>
          </a:xfrm>
          <a:prstGeom prst="rect">
            <a:avLst/>
          </a:prstGeom>
          <a:noFill/>
          <a:ln/>
        </p:spPr>
        <p:txBody>
          <a:bodyPr wrap="square" lIns="0" tIns="0" rIns="0" bIns="0" rtlCol="0" anchor="ctr"/>
          <a:lstStyle/>
          <a:p>
            <a:pPr marL="0" indent="0" algn="ctr">
              <a:buNone/>
            </a:pPr>
            <a:r>
              <a:rPr lang="en-US" sz="1750" b="1" dirty="0">
                <a:solidFill>
                  <a:srgbClr val="1F3551"/>
                </a:solidFill>
                <a:latin typeface="Calibri" pitchFamily="34" charset="0"/>
                <a:ea typeface="Calibri" pitchFamily="34" charset="-122"/>
                <a:cs typeface="Calibri" pitchFamily="34" charset="-120"/>
              </a:rPr>
              <a:t>Step C</a:t>
            </a:r>
            <a:endParaRPr lang="en-US" sz="1750" dirty="0"/>
          </a:p>
        </p:txBody>
      </p:sp>
      <p:sp>
        <p:nvSpPr>
          <p:cNvPr id="14" name="Text 12"/>
          <p:cNvSpPr/>
          <p:nvPr/>
        </p:nvSpPr>
        <p:spPr>
          <a:xfrm>
            <a:off x="1097280" y="3749040"/>
            <a:ext cx="4434840" cy="64008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The same path runs every time, regardless of context.</a:t>
            </a:r>
            <a:endParaRPr lang="en-US" sz="1750" dirty="0"/>
          </a:p>
        </p:txBody>
      </p:sp>
      <p:sp>
        <p:nvSpPr>
          <p:cNvPr id="15" name="Shape 13"/>
          <p:cNvSpPr/>
          <p:nvPr/>
        </p:nvSpPr>
        <p:spPr>
          <a:xfrm>
            <a:off x="6355080" y="1965960"/>
            <a:ext cx="4983480" cy="2606040"/>
          </a:xfrm>
          <a:prstGeom prst="rect">
            <a:avLst/>
          </a:prstGeom>
          <a:solidFill>
            <a:srgbClr val="FFFFFF"/>
          </a:solidFill>
          <a:ln w="12700">
            <a:solidFill>
              <a:srgbClr val="D7DCE3"/>
            </a:solidFill>
            <a:prstDash val="solid"/>
          </a:ln>
        </p:spPr>
      </p:sp>
      <p:sp>
        <p:nvSpPr>
          <p:cNvPr id="16" name="Text 14"/>
          <p:cNvSpPr/>
          <p:nvPr/>
        </p:nvSpPr>
        <p:spPr>
          <a:xfrm>
            <a:off x="6629400" y="2194560"/>
            <a:ext cx="4434840" cy="365760"/>
          </a:xfrm>
          <a:prstGeom prst="rect">
            <a:avLst/>
          </a:prstGeom>
          <a:noFill/>
          <a:ln/>
        </p:spPr>
        <p:txBody>
          <a:bodyPr wrap="square" lIns="0" tIns="0" rIns="0" bIns="0" rtlCol="0" anchor="ctr"/>
          <a:lstStyle/>
          <a:p>
            <a:pPr marL="0" indent="0">
              <a:buNone/>
            </a:pPr>
            <a:r>
              <a:rPr lang="en-US" sz="2050" b="1" dirty="0">
                <a:solidFill>
                  <a:srgbClr val="1F3551"/>
                </a:solidFill>
                <a:latin typeface="Calibri" pitchFamily="34" charset="0"/>
                <a:ea typeface="Calibri" pitchFamily="34" charset="-122"/>
                <a:cs typeface="Calibri" pitchFamily="34" charset="-120"/>
              </a:rPr>
              <a:t>An agentic workflow</a:t>
            </a:r>
            <a:endParaRPr lang="en-US" sz="2050" dirty="0"/>
          </a:p>
        </p:txBody>
      </p:sp>
      <p:sp>
        <p:nvSpPr>
          <p:cNvPr id="17" name="Text 15"/>
          <p:cNvSpPr/>
          <p:nvPr/>
        </p:nvSpPr>
        <p:spPr>
          <a:xfrm>
            <a:off x="6629400" y="2788920"/>
            <a:ext cx="4480560" cy="822960"/>
          </a:xfrm>
          <a:prstGeom prst="rect">
            <a:avLst/>
          </a:prstGeom>
          <a:noFill/>
          <a:ln/>
        </p:spPr>
        <p:txBody>
          <a:bodyPr wrap="square" lIns="0" tIns="0" rIns="0" bIns="0" rtlCol="0" anchor="ctr"/>
          <a:lstStyle/>
          <a:p>
            <a:pPr marL="0" indent="0">
              <a:lnSpc>
                <a:spcPct val="120000"/>
              </a:lnSpc>
              <a:buNone/>
            </a:pPr>
            <a:r>
              <a:rPr lang="en-US" sz="1900" b="1" dirty="0">
                <a:solidFill>
                  <a:srgbClr val="0078D4"/>
                </a:solidFill>
                <a:latin typeface="Calibri" pitchFamily="34" charset="0"/>
                <a:ea typeface="Calibri" pitchFamily="34" charset="-122"/>
                <a:cs typeface="Calibri" pitchFamily="34" charset="-120"/>
              </a:rPr>
              <a:t>Goal</a:t>
            </a:r>
            <a:r>
              <a:rPr lang="en-US" sz="1900" dirty="0">
                <a:solidFill>
                  <a:srgbClr val="1F3551"/>
                </a:solidFill>
                <a:latin typeface="Calibri" pitchFamily="34" charset="0"/>
                <a:ea typeface="Calibri" pitchFamily="34" charset="-122"/>
                <a:cs typeface="Calibri" pitchFamily="34" charset="-120"/>
              </a:rPr>
              <a:t>  →  Reason  →  Choose actions  →  Use tools  →  Evaluate  ↻</a:t>
            </a:r>
            <a:endParaRPr lang="en-US" sz="1900" dirty="0"/>
          </a:p>
        </p:txBody>
      </p:sp>
      <p:sp>
        <p:nvSpPr>
          <p:cNvPr id="18" name="Text 16"/>
          <p:cNvSpPr/>
          <p:nvPr/>
        </p:nvSpPr>
        <p:spPr>
          <a:xfrm>
            <a:off x="6629400" y="3749040"/>
            <a:ext cx="4434840" cy="640080"/>
          </a:xfrm>
          <a:prstGeom prst="rect">
            <a:avLst/>
          </a:prstGeom>
          <a:noFill/>
          <a:ln/>
        </p:spPr>
        <p:txBody>
          <a:bodyPr wrap="square" lIns="0" tIns="0" rIns="0" bIns="0" rtlCol="0" anchor="ctr"/>
          <a:lstStyle/>
          <a:p>
            <a:pPr marL="0" indent="0">
              <a:buNone/>
            </a:pPr>
            <a:r>
              <a:rPr lang="en-US" sz="1750" dirty="0">
                <a:solidFill>
                  <a:srgbClr val="6B7280"/>
                </a:solidFill>
                <a:latin typeface="Calibri" pitchFamily="34" charset="0"/>
                <a:ea typeface="Calibri" pitchFamily="34" charset="-122"/>
                <a:cs typeface="Calibri" pitchFamily="34" charset="-120"/>
              </a:rPr>
              <a:t>The loop repeats until the goal is met; the path is decided as it runs.</a:t>
            </a:r>
            <a:endParaRPr lang="en-US" sz="1750" dirty="0"/>
          </a:p>
        </p:txBody>
      </p:sp>
      <p:sp>
        <p:nvSpPr>
          <p:cNvPr id="19" name="Text 17"/>
          <p:cNvSpPr/>
          <p:nvPr/>
        </p:nvSpPr>
        <p:spPr>
          <a:xfrm>
            <a:off x="822960" y="4892040"/>
            <a:ext cx="10515600" cy="822960"/>
          </a:xfrm>
          <a:prstGeom prst="rect">
            <a:avLst/>
          </a:prstGeom>
          <a:noFill/>
          <a:ln/>
        </p:spPr>
        <p:txBody>
          <a:bodyPr wrap="square" lIns="0" tIns="0" rIns="0" bIns="0" rtlCol="0" anchor="ctr"/>
          <a:lstStyle/>
          <a:p>
            <a:pPr marL="0" indent="0">
              <a:lnSpc>
                <a:spcPct val="110000"/>
              </a:lnSpc>
              <a:buNone/>
            </a:pPr>
            <a:r>
              <a:rPr lang="en-US" sz="2050" b="1" dirty="0">
                <a:solidFill>
                  <a:srgbClr val="1F3551"/>
                </a:solidFill>
                <a:latin typeface="Calibri" pitchFamily="34" charset="0"/>
                <a:ea typeface="Calibri" pitchFamily="34" charset="-122"/>
                <a:cs typeface="Calibri" pitchFamily="34" charset="-120"/>
              </a:rPr>
              <a:t>The key difference.  </a:t>
            </a:r>
            <a:r>
              <a:rPr lang="en-US" sz="2050" dirty="0">
                <a:solidFill>
                  <a:srgbClr val="3A3A3A"/>
                </a:solidFill>
                <a:latin typeface="Calibri" pitchFamily="34" charset="0"/>
                <a:ea typeface="Calibri" pitchFamily="34" charset="-122"/>
                <a:cs typeface="Calibri" pitchFamily="34" charset="-120"/>
              </a:rPr>
              <a:t>The sequence is no longer fully predefined — the system chooses the next step based on what it has learned along the way.</a:t>
            </a:r>
            <a:endParaRPr lang="en-US" sz="2050" dirty="0"/>
          </a:p>
        </p:txBody>
      </p:sp>
      <p:sp>
        <p:nvSpPr>
          <p:cNvPr id="20" name="Text 18"/>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21" name="Text 19"/>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4</a:t>
            </a:r>
            <a:endParaRPr lang="en-US" sz="11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AGENTIC AI</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What an agent can do</a:t>
            </a:r>
            <a:endParaRPr lang="en-US" sz="3700" dirty="0"/>
          </a:p>
        </p:txBody>
      </p:sp>
      <p:sp>
        <p:nvSpPr>
          <p:cNvPr id="4" name="Text 2"/>
          <p:cNvSpPr/>
          <p:nvPr/>
        </p:nvSpPr>
        <p:spPr>
          <a:xfrm>
            <a:off x="822960" y="2011680"/>
            <a:ext cx="5120640" cy="2377440"/>
          </a:xfrm>
          <a:prstGeom prst="rect">
            <a:avLst/>
          </a:prstGeom>
          <a:noFill/>
          <a:ln/>
        </p:spPr>
        <p:txBody>
          <a:bodyPr wrap="square" lIns="0" tIns="0" rIns="0" bIns="0" rtlCol="0" anchor="t"/>
          <a:lstStyle/>
          <a:p>
            <a:pPr marL="203200" indent="-203200">
              <a:spcAft>
                <a:spcPts val="1600"/>
              </a:spcAft>
              <a:buSzPct val="100000"/>
              <a:buChar char="–"/>
            </a:pPr>
            <a:r>
              <a:rPr lang="en-US" sz="2100" dirty="0">
                <a:solidFill>
                  <a:srgbClr val="3A3A3A"/>
                </a:solidFill>
                <a:latin typeface="Calibri" pitchFamily="34" charset="0"/>
                <a:ea typeface="Calibri" pitchFamily="34" charset="-122"/>
                <a:cs typeface="Calibri" pitchFamily="34" charset="-120"/>
              </a:rPr>
              <a:t>Plan a task by breaking a goal into steps</a:t>
            </a:r>
            <a:endParaRPr lang="en-US" sz="2100" dirty="0"/>
          </a:p>
          <a:p>
            <a:pPr marL="203200" indent="-203200">
              <a:spcAft>
                <a:spcPts val="1600"/>
              </a:spcAft>
              <a:buSzPct val="100000"/>
              <a:buChar char="–"/>
            </a:pPr>
            <a:r>
              <a:rPr lang="en-US" sz="2100" dirty="0">
                <a:solidFill>
                  <a:srgbClr val="3A3A3A"/>
                </a:solidFill>
                <a:latin typeface="Calibri" pitchFamily="34" charset="0"/>
                <a:ea typeface="Calibri" pitchFamily="34" charset="-122"/>
                <a:cs typeface="Calibri" pitchFamily="34" charset="-120"/>
              </a:rPr>
              <a:t>Carry out several steps in sequence</a:t>
            </a:r>
            <a:endParaRPr lang="en-US" sz="2100" dirty="0"/>
          </a:p>
          <a:p>
            <a:pPr marL="203200" indent="-203200">
              <a:buSzPct val="100000"/>
              <a:buChar char="–"/>
            </a:pPr>
            <a:r>
              <a:rPr lang="en-US" sz="2100" dirty="0">
                <a:solidFill>
                  <a:srgbClr val="3A3A3A"/>
                </a:solidFill>
                <a:latin typeface="Calibri" pitchFamily="34" charset="0"/>
                <a:ea typeface="Calibri" pitchFamily="34" charset="-122"/>
                <a:cs typeface="Calibri" pitchFamily="34" charset="-120"/>
              </a:rPr>
              <a:t>Use the tools available to it — scripts, services, APIs</a:t>
            </a:r>
            <a:endParaRPr lang="en-US" sz="2100" dirty="0"/>
          </a:p>
        </p:txBody>
      </p:sp>
      <p:sp>
        <p:nvSpPr>
          <p:cNvPr id="5" name="Text 3"/>
          <p:cNvSpPr/>
          <p:nvPr/>
        </p:nvSpPr>
        <p:spPr>
          <a:xfrm>
            <a:off x="6400800" y="2011680"/>
            <a:ext cx="5120640" cy="2377440"/>
          </a:xfrm>
          <a:prstGeom prst="rect">
            <a:avLst/>
          </a:prstGeom>
          <a:noFill/>
          <a:ln/>
        </p:spPr>
        <p:txBody>
          <a:bodyPr wrap="square" lIns="0" tIns="0" rIns="0" bIns="0" rtlCol="0" anchor="t"/>
          <a:lstStyle/>
          <a:p>
            <a:pPr marL="203200" indent="-203200">
              <a:spcAft>
                <a:spcPts val="1600"/>
              </a:spcAft>
              <a:buSzPct val="100000"/>
              <a:buChar char="–"/>
            </a:pPr>
            <a:r>
              <a:rPr lang="en-US" sz="2100" dirty="0">
                <a:solidFill>
                  <a:srgbClr val="3A3A3A"/>
                </a:solidFill>
                <a:latin typeface="Calibri" pitchFamily="34" charset="0"/>
                <a:ea typeface="Calibri" pitchFamily="34" charset="-122"/>
                <a:cs typeface="Calibri" pitchFamily="34" charset="-120"/>
              </a:rPr>
              <a:t>Retrieve information from connected sources</a:t>
            </a:r>
            <a:endParaRPr lang="en-US" sz="2100" dirty="0"/>
          </a:p>
          <a:p>
            <a:pPr marL="203200" indent="-203200">
              <a:spcAft>
                <a:spcPts val="1600"/>
              </a:spcAft>
              <a:buSzPct val="100000"/>
              <a:buChar char="–"/>
            </a:pPr>
            <a:r>
              <a:rPr lang="en-US" sz="2100" dirty="0">
                <a:solidFill>
                  <a:srgbClr val="3A3A3A"/>
                </a:solidFill>
                <a:latin typeface="Calibri" pitchFamily="34" charset="0"/>
                <a:ea typeface="Calibri" pitchFamily="34" charset="-122"/>
                <a:cs typeface="Calibri" pitchFamily="34" charset="-120"/>
              </a:rPr>
              <a:t>Make decisions within defined boundaries</a:t>
            </a:r>
            <a:endParaRPr lang="en-US" sz="2100" dirty="0"/>
          </a:p>
          <a:p>
            <a:pPr marL="203200" indent="-203200">
              <a:buSzPct val="100000"/>
              <a:buChar char="–"/>
            </a:pPr>
            <a:r>
              <a:rPr lang="en-US" sz="2100" dirty="0">
                <a:solidFill>
                  <a:srgbClr val="3A3A3A"/>
                </a:solidFill>
                <a:latin typeface="Calibri" pitchFamily="34" charset="0"/>
                <a:ea typeface="Calibri" pitchFamily="34" charset="-122"/>
                <a:cs typeface="Calibri" pitchFamily="34" charset="-120"/>
              </a:rPr>
              <a:t>Work alongside other agents on a larger task</a:t>
            </a:r>
            <a:endParaRPr lang="en-US" sz="2100" dirty="0"/>
          </a:p>
        </p:txBody>
      </p:sp>
      <p:sp>
        <p:nvSpPr>
          <p:cNvPr id="6" name="Text 4"/>
          <p:cNvSpPr/>
          <p:nvPr/>
        </p:nvSpPr>
        <p:spPr>
          <a:xfrm>
            <a:off x="822960" y="4754880"/>
            <a:ext cx="10515600" cy="1005840"/>
          </a:xfrm>
          <a:prstGeom prst="rect">
            <a:avLst/>
          </a:prstGeom>
          <a:noFill/>
          <a:ln/>
        </p:spPr>
        <p:txBody>
          <a:bodyPr wrap="square" lIns="0" tIns="0" rIns="0" bIns="0" rtlCol="0" anchor="ctr"/>
          <a:lstStyle/>
          <a:p>
            <a:pPr marL="0" indent="0">
              <a:lnSpc>
                <a:spcPct val="115000"/>
              </a:lnSpc>
              <a:buNone/>
            </a:pPr>
            <a:r>
              <a:rPr lang="en-US" sz="2000" i="1" dirty="0">
                <a:solidFill>
                  <a:srgbClr val="3A3A3A"/>
                </a:solidFill>
                <a:latin typeface="Calibri" pitchFamily="34" charset="0"/>
                <a:ea typeface="Calibri" pitchFamily="34" charset="-122"/>
                <a:cs typeface="Calibri" pitchFamily="34" charset="-120"/>
              </a:rPr>
              <a:t>Taken together, this is what lets AI handle things like routine reporting, monitoring, and investigations with limited hand-holding — coordinating across applications instead of waiting for each instruction.</a:t>
            </a:r>
            <a:endParaRPr lang="en-US" sz="2000" dirty="0"/>
          </a:p>
        </p:txBody>
      </p:sp>
      <p:sp>
        <p:nvSpPr>
          <p:cNvPr id="7" name="Text 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8" name="Text 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5</a:t>
            </a:r>
            <a:endParaRPr lang="en-US" sz="11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EXAMPLES — AS OF JUNE 2026</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What this looks like in real tools</a:t>
            </a:r>
            <a:endParaRPr lang="en-US" sz="3700" dirty="0"/>
          </a:p>
        </p:txBody>
      </p:sp>
      <p:sp>
        <p:nvSpPr>
          <p:cNvPr id="4" name="Text 2"/>
          <p:cNvSpPr/>
          <p:nvPr/>
        </p:nvSpPr>
        <p:spPr>
          <a:xfrm>
            <a:off x="822960" y="1783080"/>
            <a:ext cx="5120640" cy="365760"/>
          </a:xfrm>
          <a:prstGeom prst="rect">
            <a:avLst/>
          </a:prstGeom>
          <a:noFill/>
          <a:ln/>
        </p:spPr>
        <p:txBody>
          <a:bodyPr wrap="square" lIns="0" tIns="0" rIns="0" bIns="0" rtlCol="0" anchor="ctr"/>
          <a:lstStyle/>
          <a:p>
            <a:pPr marL="0" indent="0">
              <a:buNone/>
            </a:pPr>
            <a:r>
              <a:rPr lang="en-US" sz="2000" b="1" dirty="0">
                <a:solidFill>
                  <a:srgbClr val="1F3551"/>
                </a:solidFill>
                <a:latin typeface="Calibri" pitchFamily="34" charset="0"/>
                <a:ea typeface="Calibri" pitchFamily="34" charset="-122"/>
                <a:cs typeface="Calibri" pitchFamily="34" charset="-120"/>
              </a:rPr>
              <a:t>General-purpose desktop agents</a:t>
            </a:r>
            <a:endParaRPr lang="en-US" sz="2000" dirty="0"/>
          </a:p>
        </p:txBody>
      </p:sp>
      <p:sp>
        <p:nvSpPr>
          <p:cNvPr id="5" name="Shape 3"/>
          <p:cNvSpPr/>
          <p:nvPr/>
        </p:nvSpPr>
        <p:spPr>
          <a:xfrm>
            <a:off x="822960" y="2240280"/>
            <a:ext cx="457200" cy="45720"/>
          </a:xfrm>
          <a:prstGeom prst="rect">
            <a:avLst/>
          </a:prstGeom>
          <a:solidFill>
            <a:srgbClr val="0078D4"/>
          </a:solidFill>
          <a:ln/>
        </p:spPr>
      </p:sp>
      <p:sp>
        <p:nvSpPr>
          <p:cNvPr id="6" name="Text 4"/>
          <p:cNvSpPr/>
          <p:nvPr/>
        </p:nvSpPr>
        <p:spPr>
          <a:xfrm>
            <a:off x="822960" y="2423160"/>
            <a:ext cx="5120640" cy="365760"/>
          </a:xfrm>
          <a:prstGeom prst="rect">
            <a:avLst/>
          </a:prstGeom>
          <a:noFill/>
          <a:ln/>
        </p:spPr>
        <p:txBody>
          <a:bodyPr wrap="square" lIns="0" tIns="0" rIns="0" bIns="0" rtlCol="0" anchor="ctr"/>
          <a:lstStyle/>
          <a:p>
            <a:pPr marL="0" indent="0">
              <a:buNone/>
            </a:pPr>
            <a:r>
              <a:rPr lang="en-US" sz="1850" b="1" dirty="0">
                <a:solidFill>
                  <a:srgbClr val="1F3551"/>
                </a:solidFill>
                <a:latin typeface="Calibri" pitchFamily="34" charset="0"/>
                <a:ea typeface="Calibri" pitchFamily="34" charset="-122"/>
                <a:cs typeface="Calibri" pitchFamily="34" charset="-120"/>
              </a:rPr>
              <a:t>Claude Cowork  (Anthropic)</a:t>
            </a:r>
            <a:endParaRPr lang="en-US" sz="1850" dirty="0"/>
          </a:p>
        </p:txBody>
      </p:sp>
      <p:sp>
        <p:nvSpPr>
          <p:cNvPr id="7" name="Text 5"/>
          <p:cNvSpPr/>
          <p:nvPr/>
        </p:nvSpPr>
        <p:spPr>
          <a:xfrm>
            <a:off x="822960" y="2825496"/>
            <a:ext cx="5120640" cy="640080"/>
          </a:xfrm>
          <a:prstGeom prst="rect">
            <a:avLst/>
          </a:prstGeom>
          <a:noFill/>
          <a:ln/>
        </p:spPr>
        <p:txBody>
          <a:bodyPr wrap="square" lIns="0" tIns="0" rIns="0" bIns="0" rtlCol="0" anchor="ctr"/>
          <a:lstStyle/>
          <a:p>
            <a:pPr marL="0" indent="0">
              <a:lnSpc>
                <a:spcPct val="112000"/>
              </a:lnSpc>
              <a:buNone/>
            </a:pPr>
            <a:r>
              <a:rPr lang="en-US" sz="1550" dirty="0">
                <a:solidFill>
                  <a:srgbClr val="3A3A3A"/>
                </a:solidFill>
                <a:latin typeface="Calibri" pitchFamily="34" charset="0"/>
                <a:ea typeface="Calibri" pitchFamily="34" charset="-122"/>
                <a:cs typeface="Calibri" pitchFamily="34" charset="-120"/>
              </a:rPr>
              <a:t>Controls your desktop and files to run multi-step tasks. (This deck was built in it.)</a:t>
            </a:r>
            <a:endParaRPr lang="en-US" sz="1550" dirty="0"/>
          </a:p>
        </p:txBody>
      </p:sp>
      <p:sp>
        <p:nvSpPr>
          <p:cNvPr id="8" name="Text 6"/>
          <p:cNvSpPr/>
          <p:nvPr/>
        </p:nvSpPr>
        <p:spPr>
          <a:xfrm>
            <a:off x="822960" y="3520440"/>
            <a:ext cx="5120640" cy="365760"/>
          </a:xfrm>
          <a:prstGeom prst="rect">
            <a:avLst/>
          </a:prstGeom>
          <a:noFill/>
          <a:ln/>
        </p:spPr>
        <p:txBody>
          <a:bodyPr wrap="square" lIns="0" tIns="0" rIns="0" bIns="0" rtlCol="0" anchor="ctr"/>
          <a:lstStyle/>
          <a:p>
            <a:pPr marL="0" indent="0">
              <a:buNone/>
            </a:pPr>
            <a:r>
              <a:rPr lang="en-US" sz="1850" b="1" dirty="0">
                <a:solidFill>
                  <a:srgbClr val="1F3551"/>
                </a:solidFill>
                <a:latin typeface="Calibri" pitchFamily="34" charset="0"/>
                <a:ea typeface="Calibri" pitchFamily="34" charset="-122"/>
                <a:cs typeface="Calibri" pitchFamily="34" charset="-120"/>
              </a:rPr>
              <a:t>Gemini Spark  (Google)</a:t>
            </a:r>
            <a:endParaRPr lang="en-US" sz="1850" dirty="0"/>
          </a:p>
        </p:txBody>
      </p:sp>
      <p:sp>
        <p:nvSpPr>
          <p:cNvPr id="9" name="Text 7"/>
          <p:cNvSpPr/>
          <p:nvPr/>
        </p:nvSpPr>
        <p:spPr>
          <a:xfrm>
            <a:off x="822960" y="3922776"/>
            <a:ext cx="5120640" cy="640080"/>
          </a:xfrm>
          <a:prstGeom prst="rect">
            <a:avLst/>
          </a:prstGeom>
          <a:noFill/>
          <a:ln/>
        </p:spPr>
        <p:txBody>
          <a:bodyPr wrap="square" lIns="0" tIns="0" rIns="0" bIns="0" rtlCol="0" anchor="ctr"/>
          <a:lstStyle/>
          <a:p>
            <a:pPr marL="0" indent="0">
              <a:lnSpc>
                <a:spcPct val="112000"/>
              </a:lnSpc>
              <a:buNone/>
            </a:pPr>
            <a:r>
              <a:rPr lang="en-US" sz="1550" dirty="0">
                <a:solidFill>
                  <a:srgbClr val="3A3A3A"/>
                </a:solidFill>
                <a:latin typeface="Calibri" pitchFamily="34" charset="0"/>
                <a:ea typeface="Calibri" pitchFamily="34" charset="-122"/>
                <a:cs typeface="Calibri" pitchFamily="34" charset="-120"/>
              </a:rPr>
              <a:t>An always-on cloud agent you email; works across Gmail and the web. Uses MCP.</a:t>
            </a:r>
            <a:endParaRPr lang="en-US" sz="1550" dirty="0"/>
          </a:p>
        </p:txBody>
      </p:sp>
      <p:sp>
        <p:nvSpPr>
          <p:cNvPr id="10" name="Text 8"/>
          <p:cNvSpPr/>
          <p:nvPr/>
        </p:nvSpPr>
        <p:spPr>
          <a:xfrm>
            <a:off x="822960" y="4617720"/>
            <a:ext cx="5120640" cy="365760"/>
          </a:xfrm>
          <a:prstGeom prst="rect">
            <a:avLst/>
          </a:prstGeom>
          <a:noFill/>
          <a:ln/>
        </p:spPr>
        <p:txBody>
          <a:bodyPr wrap="square" lIns="0" tIns="0" rIns="0" bIns="0" rtlCol="0" anchor="ctr"/>
          <a:lstStyle/>
          <a:p>
            <a:pPr marL="0" indent="0">
              <a:buNone/>
            </a:pPr>
            <a:r>
              <a:rPr lang="en-US" sz="1850" b="1" dirty="0">
                <a:solidFill>
                  <a:srgbClr val="1F3551"/>
                </a:solidFill>
                <a:latin typeface="Calibri" pitchFamily="34" charset="0"/>
                <a:ea typeface="Calibri" pitchFamily="34" charset="-122"/>
                <a:cs typeface="Calibri" pitchFamily="34" charset="-120"/>
              </a:rPr>
              <a:t>OpenClaw  (open-source)</a:t>
            </a:r>
            <a:endParaRPr lang="en-US" sz="1850" dirty="0"/>
          </a:p>
        </p:txBody>
      </p:sp>
      <p:sp>
        <p:nvSpPr>
          <p:cNvPr id="11" name="Text 9"/>
          <p:cNvSpPr/>
          <p:nvPr/>
        </p:nvSpPr>
        <p:spPr>
          <a:xfrm>
            <a:off x="822960" y="5020056"/>
            <a:ext cx="5120640" cy="640080"/>
          </a:xfrm>
          <a:prstGeom prst="rect">
            <a:avLst/>
          </a:prstGeom>
          <a:noFill/>
          <a:ln/>
        </p:spPr>
        <p:txBody>
          <a:bodyPr wrap="square" lIns="0" tIns="0" rIns="0" bIns="0" rtlCol="0" anchor="ctr"/>
          <a:lstStyle/>
          <a:p>
            <a:pPr marL="0" indent="0">
              <a:lnSpc>
                <a:spcPct val="112000"/>
              </a:lnSpc>
              <a:buNone/>
            </a:pPr>
            <a:r>
              <a:rPr lang="en-US" sz="1550" dirty="0">
                <a:solidFill>
                  <a:srgbClr val="3A3A3A"/>
                </a:solidFill>
                <a:latin typeface="Calibri" pitchFamily="34" charset="0"/>
                <a:ea typeface="Calibri" pitchFamily="34" charset="-122"/>
                <a:cs typeface="Calibri" pitchFamily="34" charset="-120"/>
              </a:rPr>
              <a:t>Runs locally — shell, files and browser — with 100+ built-in skills.</a:t>
            </a:r>
            <a:endParaRPr lang="en-US" sz="1550" dirty="0"/>
          </a:p>
        </p:txBody>
      </p:sp>
      <p:sp>
        <p:nvSpPr>
          <p:cNvPr id="12" name="Text 10"/>
          <p:cNvSpPr/>
          <p:nvPr/>
        </p:nvSpPr>
        <p:spPr>
          <a:xfrm>
            <a:off x="6446520" y="1783080"/>
            <a:ext cx="4983480" cy="365760"/>
          </a:xfrm>
          <a:prstGeom prst="rect">
            <a:avLst/>
          </a:prstGeom>
          <a:noFill/>
          <a:ln/>
        </p:spPr>
        <p:txBody>
          <a:bodyPr wrap="square" lIns="0" tIns="0" rIns="0" bIns="0" rtlCol="0" anchor="ctr"/>
          <a:lstStyle/>
          <a:p>
            <a:pPr marL="0" indent="0">
              <a:buNone/>
            </a:pPr>
            <a:r>
              <a:rPr lang="en-US" sz="2000" b="1" dirty="0">
                <a:solidFill>
                  <a:srgbClr val="1F3551"/>
                </a:solidFill>
                <a:latin typeface="Calibri" pitchFamily="34" charset="0"/>
                <a:ea typeface="Calibri" pitchFamily="34" charset="-122"/>
                <a:cs typeface="Calibri" pitchFamily="34" charset="-120"/>
              </a:rPr>
              <a:t>Coding-focused agents</a:t>
            </a:r>
            <a:endParaRPr lang="en-US" sz="2000" dirty="0"/>
          </a:p>
        </p:txBody>
      </p:sp>
      <p:sp>
        <p:nvSpPr>
          <p:cNvPr id="13" name="Shape 11"/>
          <p:cNvSpPr/>
          <p:nvPr/>
        </p:nvSpPr>
        <p:spPr>
          <a:xfrm>
            <a:off x="6446520" y="2240280"/>
            <a:ext cx="457200" cy="45720"/>
          </a:xfrm>
          <a:prstGeom prst="rect">
            <a:avLst/>
          </a:prstGeom>
          <a:solidFill>
            <a:srgbClr val="0078D4"/>
          </a:solidFill>
          <a:ln/>
        </p:spPr>
      </p:sp>
      <p:sp>
        <p:nvSpPr>
          <p:cNvPr id="14" name="Text 12"/>
          <p:cNvSpPr/>
          <p:nvPr/>
        </p:nvSpPr>
        <p:spPr>
          <a:xfrm>
            <a:off x="6446520" y="2423160"/>
            <a:ext cx="4983480" cy="365760"/>
          </a:xfrm>
          <a:prstGeom prst="rect">
            <a:avLst/>
          </a:prstGeom>
          <a:noFill/>
          <a:ln/>
        </p:spPr>
        <p:txBody>
          <a:bodyPr wrap="square" lIns="0" tIns="0" rIns="0" bIns="0" rtlCol="0" anchor="ctr"/>
          <a:lstStyle/>
          <a:p>
            <a:pPr marL="0" indent="0">
              <a:buNone/>
            </a:pPr>
            <a:r>
              <a:rPr lang="en-US" sz="1850" b="1" dirty="0">
                <a:solidFill>
                  <a:srgbClr val="1F3551"/>
                </a:solidFill>
                <a:latin typeface="Calibri" pitchFamily="34" charset="0"/>
                <a:ea typeface="Calibri" pitchFamily="34" charset="-122"/>
                <a:cs typeface="Calibri" pitchFamily="34" charset="-120"/>
              </a:rPr>
              <a:t>New GitHub Copilot app</a:t>
            </a:r>
            <a:endParaRPr lang="en-US" sz="1850" dirty="0"/>
          </a:p>
        </p:txBody>
      </p:sp>
      <p:sp>
        <p:nvSpPr>
          <p:cNvPr id="15" name="Text 13"/>
          <p:cNvSpPr/>
          <p:nvPr/>
        </p:nvSpPr>
        <p:spPr>
          <a:xfrm>
            <a:off x="6446520" y="2825496"/>
            <a:ext cx="4983480" cy="640080"/>
          </a:xfrm>
          <a:prstGeom prst="rect">
            <a:avLst/>
          </a:prstGeom>
          <a:noFill/>
          <a:ln/>
        </p:spPr>
        <p:txBody>
          <a:bodyPr wrap="square" lIns="0" tIns="0" rIns="0" bIns="0" rtlCol="0" anchor="ctr"/>
          <a:lstStyle/>
          <a:p>
            <a:pPr marL="0" indent="0">
              <a:lnSpc>
                <a:spcPct val="112000"/>
              </a:lnSpc>
              <a:buNone/>
            </a:pPr>
            <a:r>
              <a:rPr lang="en-US" sz="1550" dirty="0">
                <a:solidFill>
                  <a:srgbClr val="3A3A3A"/>
                </a:solidFill>
                <a:latin typeface="Calibri" pitchFamily="34" charset="0"/>
                <a:ea typeface="Calibri" pitchFamily="34" charset="-122"/>
                <a:cs typeface="Calibri" pitchFamily="34" charset="-120"/>
              </a:rPr>
              <a:t>Launched at Build 2026 — supervise several coding agents tied to issues and PRs.</a:t>
            </a:r>
            <a:endParaRPr lang="en-US" sz="1550" dirty="0"/>
          </a:p>
        </p:txBody>
      </p:sp>
      <p:sp>
        <p:nvSpPr>
          <p:cNvPr id="16" name="Text 14"/>
          <p:cNvSpPr/>
          <p:nvPr/>
        </p:nvSpPr>
        <p:spPr>
          <a:xfrm>
            <a:off x="6446520" y="3520440"/>
            <a:ext cx="4983480" cy="365760"/>
          </a:xfrm>
          <a:prstGeom prst="rect">
            <a:avLst/>
          </a:prstGeom>
          <a:noFill/>
          <a:ln/>
        </p:spPr>
        <p:txBody>
          <a:bodyPr wrap="square" lIns="0" tIns="0" rIns="0" bIns="0" rtlCol="0" anchor="ctr"/>
          <a:lstStyle/>
          <a:p>
            <a:pPr marL="0" indent="0">
              <a:buNone/>
            </a:pPr>
            <a:r>
              <a:rPr lang="en-US" sz="1850" b="1" dirty="0">
                <a:solidFill>
                  <a:srgbClr val="1F3551"/>
                </a:solidFill>
                <a:latin typeface="Calibri" pitchFamily="34" charset="0"/>
                <a:ea typeface="Calibri" pitchFamily="34" charset="-122"/>
                <a:cs typeface="Calibri" pitchFamily="34" charset="-120"/>
              </a:rPr>
              <a:t>OpenAI Codex</a:t>
            </a:r>
            <a:endParaRPr lang="en-US" sz="1850" dirty="0"/>
          </a:p>
        </p:txBody>
      </p:sp>
      <p:sp>
        <p:nvSpPr>
          <p:cNvPr id="17" name="Text 15"/>
          <p:cNvSpPr/>
          <p:nvPr/>
        </p:nvSpPr>
        <p:spPr>
          <a:xfrm>
            <a:off x="6446520" y="3922776"/>
            <a:ext cx="4983480" cy="640080"/>
          </a:xfrm>
          <a:prstGeom prst="rect">
            <a:avLst/>
          </a:prstGeom>
          <a:noFill/>
          <a:ln/>
        </p:spPr>
        <p:txBody>
          <a:bodyPr wrap="square" lIns="0" tIns="0" rIns="0" bIns="0" rtlCol="0" anchor="ctr"/>
          <a:lstStyle/>
          <a:p>
            <a:pPr marL="0" indent="0">
              <a:lnSpc>
                <a:spcPct val="112000"/>
              </a:lnSpc>
              <a:buNone/>
            </a:pPr>
            <a:r>
              <a:rPr lang="en-US" sz="1550" dirty="0">
                <a:solidFill>
                  <a:srgbClr val="3A3A3A"/>
                </a:solidFill>
                <a:latin typeface="Calibri" pitchFamily="34" charset="0"/>
                <a:ea typeface="Calibri" pitchFamily="34" charset="-122"/>
                <a:cs typeface="Calibri" pitchFamily="34" charset="-120"/>
              </a:rPr>
              <a:t>Cloud coding agent that runs tests and opens pull requests via parallel sub-agents.</a:t>
            </a:r>
            <a:endParaRPr lang="en-US" sz="1550" dirty="0"/>
          </a:p>
        </p:txBody>
      </p:sp>
      <p:sp>
        <p:nvSpPr>
          <p:cNvPr id="18" name="Text 16"/>
          <p:cNvSpPr/>
          <p:nvPr/>
        </p:nvSpPr>
        <p:spPr>
          <a:xfrm>
            <a:off x="6446520" y="4617720"/>
            <a:ext cx="4983480" cy="45720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These move quickly — treat the specifics as a June 2026 snapshot.</a:t>
            </a:r>
            <a:endParaRPr lang="en-US" sz="1500" dirty="0"/>
          </a:p>
        </p:txBody>
      </p:sp>
      <p:sp>
        <p:nvSpPr>
          <p:cNvPr id="19" name="Text 17"/>
          <p:cNvSpPr/>
          <p:nvPr/>
        </p:nvSpPr>
        <p:spPr>
          <a:xfrm>
            <a:off x="822960" y="5669280"/>
            <a:ext cx="10515600" cy="502920"/>
          </a:xfrm>
          <a:prstGeom prst="rect">
            <a:avLst/>
          </a:prstGeom>
          <a:noFill/>
          <a:ln/>
        </p:spPr>
        <p:txBody>
          <a:bodyPr wrap="square" lIns="0" tIns="0" rIns="0" bIns="0" rtlCol="0" anchor="ctr"/>
          <a:lstStyle/>
          <a:p>
            <a:pPr marL="0" indent="0">
              <a:lnSpc>
                <a:spcPct val="110000"/>
              </a:lnSpc>
              <a:buNone/>
            </a:pPr>
            <a:r>
              <a:rPr lang="en-US" sz="1750" b="1" dirty="0">
                <a:solidFill>
                  <a:srgbClr val="1F3551"/>
                </a:solidFill>
                <a:latin typeface="Calibri" pitchFamily="34" charset="0"/>
                <a:ea typeface="Calibri" pitchFamily="34" charset="-122"/>
                <a:cs typeface="Calibri" pitchFamily="34" charset="-120"/>
              </a:rPr>
              <a:t>The common thread.  </a:t>
            </a:r>
            <a:r>
              <a:rPr lang="en-US" sz="1750" dirty="0">
                <a:solidFill>
                  <a:srgbClr val="3A3A3A"/>
                </a:solidFill>
                <a:latin typeface="Calibri" pitchFamily="34" charset="0"/>
                <a:ea typeface="Calibri" pitchFamily="34" charset="-122"/>
                <a:cs typeface="Calibri" pitchFamily="34" charset="-120"/>
              </a:rPr>
              <a:t>Each one acts — it plans, uses tools and does the work — and several connect through MCP.</a:t>
            </a:r>
            <a:endParaRPr lang="en-US" sz="1750" dirty="0"/>
          </a:p>
        </p:txBody>
      </p:sp>
      <p:sp>
        <p:nvSpPr>
          <p:cNvPr id="20" name="Text 18"/>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21" name="Text 19"/>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6</a:t>
            </a:r>
            <a:endParaRPr lang="en-US" sz="11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THE PLATFORM</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AI Foundry: a place to build AI applications</a:t>
            </a:r>
            <a:endParaRPr lang="en-US" sz="3700" dirty="0"/>
          </a:p>
        </p:txBody>
      </p:sp>
      <p:sp>
        <p:nvSpPr>
          <p:cNvPr id="4" name="Text 2"/>
          <p:cNvSpPr/>
          <p:nvPr/>
        </p:nvSpPr>
        <p:spPr>
          <a:xfrm>
            <a:off x="822960" y="2011680"/>
            <a:ext cx="5120640" cy="2743200"/>
          </a:xfrm>
          <a:prstGeom prst="rect">
            <a:avLst/>
          </a:prstGeom>
          <a:noFill/>
          <a:ln/>
        </p:spPr>
        <p:txBody>
          <a:bodyPr wrap="square" lIns="0" tIns="0" rIns="0" bIns="0" rtlCol="0" anchor="ctr"/>
          <a:lstStyle/>
          <a:p>
            <a:pPr marL="0" indent="0">
              <a:lnSpc>
                <a:spcPct val="125000"/>
              </a:lnSpc>
              <a:buNone/>
            </a:pPr>
            <a:r>
              <a:rPr lang="en-US" sz="2050" dirty="0">
                <a:solidFill>
                  <a:srgbClr val="3A3A3A"/>
                </a:solidFill>
                <a:latin typeface="Calibri" pitchFamily="34" charset="0"/>
                <a:ea typeface="Calibri" pitchFamily="34" charset="-122"/>
                <a:cs typeface="Calibri" pitchFamily="34" charset="-120"/>
              </a:rPr>
              <a:t>Microsoft presented AI Foundry as a central place to build and manage AI work, rather than assembling a series of separate, one-off tools. The idea is to create capabilities that can be reused, with consistent security and oversight across them.</a:t>
            </a:r>
            <a:endParaRPr lang="en-US" sz="2050" dirty="0"/>
          </a:p>
        </p:txBody>
      </p:sp>
      <p:sp>
        <p:nvSpPr>
          <p:cNvPr id="7" name="Text 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8" name="Text 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7</a:t>
            </a:r>
            <a:endParaRPr lang="en-US" sz="1150" dirty="0"/>
          </a:p>
        </p:txBody>
      </p:sp>
      <p:sp>
        <p:nvSpPr>
          <p:cNvPr id="9" name="Rounded Rectangle 8"/>
          <p:cNvSpPr/>
          <p:nvPr/>
        </p:nvSpPr>
        <p:spPr>
          <a:xfrm>
            <a:off x="6400800" y="2267712"/>
            <a:ext cx="4937760" cy="292608"/>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t"/>
          <a:lstStyle/>
          <a:p>
            <a:pPr algn="ctr"/>
            <a:r>
              <a:rPr sz="1100" b="1">
                <a:solidFill>
                  <a:srgbClr val="0078D4"/>
                </a:solidFill>
                <a:latin typeface="Calibri"/>
              </a:rPr>
              <a:t>AI FOUNDRY PLATFORM</a:t>
            </a:r>
          </a:p>
        </p:txBody>
      </p:sp>
      <p:sp>
        <p:nvSpPr>
          <p:cNvPr id="10" name="Rounded Rectangle 9"/>
          <p:cNvSpPr/>
          <p:nvPr/>
        </p:nvSpPr>
        <p:spPr>
          <a:xfrm>
            <a:off x="6400800" y="2212848"/>
            <a:ext cx="4937760" cy="3675887"/>
          </a:xfrm>
          <a:prstGeom prst="roundRect">
            <a:avLst>
              <a:gd name="adj" fmla="val 3000"/>
            </a:avLst>
          </a:prstGeom>
          <a:no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601968" y="2670048"/>
            <a:ext cx="4535424" cy="658368"/>
          </a:xfrm>
          <a:prstGeom prst="roundRect">
            <a:avLst>
              <a:gd name="adj" fmla="val 12000"/>
            </a:avLst>
          </a:prstGeom>
          <a:solidFill>
            <a:srgbClr val="E6F1F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1F3551"/>
                </a:solidFill>
                <a:latin typeface="Calibri"/>
              </a:rPr>
              <a:t>Agents</a:t>
            </a:r>
          </a:p>
          <a:p>
            <a:pPr algn="ctr"/>
            <a:r>
              <a:rPr sz="950" b="0">
                <a:solidFill>
                  <a:srgbClr val="6B7280"/>
                </a:solidFill>
                <a:latin typeface="Calibri"/>
              </a:rPr>
              <a:t>Build, run and orchestrate</a:t>
            </a:r>
          </a:p>
        </p:txBody>
      </p:sp>
      <p:sp>
        <p:nvSpPr>
          <p:cNvPr id="12" name="Rounded Rectangle 11"/>
          <p:cNvSpPr/>
          <p:nvPr/>
        </p:nvSpPr>
        <p:spPr>
          <a:xfrm>
            <a:off x="6601968" y="3456432"/>
            <a:ext cx="2194560" cy="786384"/>
          </a:xfrm>
          <a:prstGeom prst="roundRect">
            <a:avLst>
              <a:gd name="adj" fmla="val 10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Models</a:t>
            </a:r>
          </a:p>
          <a:p>
            <a:pPr algn="ctr"/>
            <a:r>
              <a:rPr sz="900" b="0">
                <a:solidFill>
                  <a:srgbClr val="6B7280"/>
                </a:solidFill>
                <a:latin typeface="Calibri"/>
              </a:rPr>
              <a:t>Managed in one place</a:t>
            </a:r>
          </a:p>
        </p:txBody>
      </p:sp>
      <p:sp>
        <p:nvSpPr>
          <p:cNvPr id="13" name="Rounded Rectangle 12"/>
          <p:cNvSpPr/>
          <p:nvPr/>
        </p:nvSpPr>
        <p:spPr>
          <a:xfrm>
            <a:off x="8942832" y="3456432"/>
            <a:ext cx="2194560" cy="786384"/>
          </a:xfrm>
          <a:prstGeom prst="roundRect">
            <a:avLst>
              <a:gd name="adj" fmla="val 10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1">
                <a:solidFill>
                  <a:srgbClr val="1F3551"/>
                </a:solidFill>
                <a:latin typeface="Calibri"/>
              </a:rPr>
              <a:t>Tools &amp; connectors</a:t>
            </a:r>
          </a:p>
          <a:p>
            <a:pPr algn="ctr"/>
            <a:r>
              <a:rPr sz="900" b="0">
                <a:solidFill>
                  <a:srgbClr val="6B7280"/>
                </a:solidFill>
                <a:latin typeface="Calibri"/>
              </a:rPr>
              <a:t>via MCP</a:t>
            </a:r>
          </a:p>
        </p:txBody>
      </p:sp>
      <p:sp>
        <p:nvSpPr>
          <p:cNvPr id="14" name="Rounded Rectangle 13"/>
          <p:cNvSpPr/>
          <p:nvPr/>
        </p:nvSpPr>
        <p:spPr>
          <a:xfrm>
            <a:off x="6601968" y="4370832"/>
            <a:ext cx="4535424" cy="56692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Data &amp; knowledge</a:t>
            </a:r>
          </a:p>
        </p:txBody>
      </p:sp>
      <p:sp>
        <p:nvSpPr>
          <p:cNvPr id="15" name="Rounded Rectangle 14"/>
          <p:cNvSpPr/>
          <p:nvPr/>
        </p:nvSpPr>
        <p:spPr>
          <a:xfrm>
            <a:off x="6601968" y="5065776"/>
            <a:ext cx="4535424" cy="603504"/>
          </a:xfrm>
          <a:prstGeom prst="roundRect">
            <a:avLst>
              <a:gd name="adj" fmla="val 12000"/>
            </a:avLst>
          </a:prstGeom>
          <a:solidFill>
            <a:srgbClr val="1F355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50" b="1">
                <a:solidFill>
                  <a:srgbClr val="FFFFFF"/>
                </a:solidFill>
                <a:latin typeface="Calibri"/>
              </a:rPr>
              <a:t>Security, identity &amp; governance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WHERE IT RUNS</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Hybrid AI: cloud and on-device</a:t>
            </a:r>
            <a:endParaRPr lang="en-US" sz="3700" dirty="0"/>
          </a:p>
        </p:txBody>
      </p:sp>
      <p:sp>
        <p:nvSpPr>
          <p:cNvPr id="4" name="Text 2"/>
          <p:cNvSpPr/>
          <p:nvPr/>
        </p:nvSpPr>
        <p:spPr>
          <a:xfrm>
            <a:off x="822960" y="1965960"/>
            <a:ext cx="5486400" cy="365760"/>
          </a:xfrm>
          <a:prstGeom prst="rect">
            <a:avLst/>
          </a:prstGeom>
          <a:noFill/>
          <a:ln/>
        </p:spPr>
        <p:txBody>
          <a:bodyPr wrap="square" lIns="0" tIns="0" rIns="0" bIns="0" rtlCol="0" anchor="ctr"/>
          <a:lstStyle/>
          <a:p>
            <a:pPr marL="0" indent="0">
              <a:buNone/>
            </a:pPr>
            <a:r>
              <a:rPr lang="en-US" sz="1900" b="1" dirty="0">
                <a:solidFill>
                  <a:srgbClr val="6B7280"/>
                </a:solidFill>
                <a:latin typeface="Calibri" pitchFamily="34" charset="0"/>
                <a:ea typeface="Calibri" pitchFamily="34" charset="-122"/>
                <a:cs typeface="Calibri" pitchFamily="34" charset="-120"/>
              </a:rPr>
              <a:t>The previous model</a:t>
            </a:r>
            <a:endParaRPr lang="en-US" sz="1900" dirty="0"/>
          </a:p>
        </p:txBody>
      </p:sp>
      <p:sp>
        <p:nvSpPr>
          <p:cNvPr id="13" name="Text 11"/>
          <p:cNvSpPr/>
          <p:nvPr/>
        </p:nvSpPr>
        <p:spPr>
          <a:xfrm>
            <a:off x="822960" y="3429000"/>
            <a:ext cx="5486400" cy="365760"/>
          </a:xfrm>
          <a:prstGeom prst="rect">
            <a:avLst/>
          </a:prstGeom>
          <a:noFill/>
          <a:ln/>
        </p:spPr>
        <p:txBody>
          <a:bodyPr wrap="square" lIns="0" tIns="0" rIns="0" bIns="0" rtlCol="0" anchor="ctr"/>
          <a:lstStyle/>
          <a:p>
            <a:pPr marL="0" indent="0">
              <a:buNone/>
            </a:pPr>
            <a:r>
              <a:rPr lang="en-US" sz="1900" b="1" dirty="0">
                <a:solidFill>
                  <a:srgbClr val="1F3551"/>
                </a:solidFill>
                <a:latin typeface="Calibri" pitchFamily="34" charset="0"/>
                <a:ea typeface="Calibri" pitchFamily="34" charset="-122"/>
                <a:cs typeface="Calibri" pitchFamily="34" charset="-120"/>
              </a:rPr>
              <a:t>The emerging model</a:t>
            </a:r>
            <a:endParaRPr lang="en-US" sz="1900" dirty="0"/>
          </a:p>
        </p:txBody>
      </p:sp>
      <p:sp>
        <p:nvSpPr>
          <p:cNvPr id="26" name="Text 24"/>
          <p:cNvSpPr/>
          <p:nvPr/>
        </p:nvSpPr>
        <p:spPr>
          <a:xfrm>
            <a:off x="822960" y="4983480"/>
            <a:ext cx="10515600" cy="1005840"/>
          </a:xfrm>
          <a:prstGeom prst="rect">
            <a:avLst/>
          </a:prstGeom>
          <a:noFill/>
          <a:ln/>
        </p:spPr>
        <p:txBody>
          <a:bodyPr wrap="square" lIns="0" tIns="0" rIns="0" bIns="0" rtlCol="0" anchor="ctr"/>
          <a:lstStyle/>
          <a:p>
            <a:pPr marL="0" indent="0">
              <a:lnSpc>
                <a:spcPct val="120000"/>
              </a:lnSpc>
              <a:buNone/>
            </a:pPr>
            <a:r>
              <a:rPr lang="en-US" sz="2000" dirty="0">
                <a:solidFill>
                  <a:srgbClr val="3A3A3A"/>
                </a:solidFill>
                <a:latin typeface="Calibri" pitchFamily="34" charset="0"/>
                <a:ea typeface="Calibri" pitchFamily="34" charset="-122"/>
                <a:cs typeface="Calibri" pitchFamily="34" charset="-120"/>
              </a:rPr>
              <a:t>Work increasingly runs on the device and within the enterprise first, with the cloud reserved for the harder reasoning. The benefits are practical: lower cost, better privacy for sensitive data, faster responses, and some capability even when offline.</a:t>
            </a:r>
            <a:endParaRPr lang="en-US" sz="2000" dirty="0"/>
          </a:p>
        </p:txBody>
      </p:sp>
      <p:sp>
        <p:nvSpPr>
          <p:cNvPr id="27" name="Text 2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28" name="Text 2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8</a:t>
            </a:r>
            <a:endParaRPr lang="en-US" sz="1150" dirty="0"/>
          </a:p>
        </p:txBody>
      </p:sp>
      <p:sp>
        <p:nvSpPr>
          <p:cNvPr id="29" name="Rounded Rectangle 28"/>
          <p:cNvSpPr/>
          <p:nvPr/>
        </p:nvSpPr>
        <p:spPr>
          <a:xfrm>
            <a:off x="822960" y="2377440"/>
            <a:ext cx="1783080" cy="658368"/>
          </a:xfrm>
          <a:prstGeom prst="roundRect">
            <a:avLst>
              <a:gd name="adj" fmla="val 12000"/>
            </a:avLst>
          </a:prstGeom>
          <a:solidFill>
            <a:srgbClr val="FFFFFF"/>
          </a:solidFill>
          <a:ln w="13970">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1F3551"/>
                </a:solidFill>
                <a:latin typeface="Calibri"/>
              </a:rPr>
              <a:t>User</a:t>
            </a:r>
          </a:p>
        </p:txBody>
      </p:sp>
      <p:sp>
        <p:nvSpPr>
          <p:cNvPr id="30" name="Right Arrow 29"/>
          <p:cNvSpPr/>
          <p:nvPr/>
        </p:nvSpPr>
        <p:spPr>
          <a:xfrm>
            <a:off x="2697480" y="2551176"/>
            <a:ext cx="365760" cy="310896"/>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108960" y="2377440"/>
            <a:ext cx="1783080" cy="658368"/>
          </a:xfrm>
          <a:prstGeom prst="roundRect">
            <a:avLst>
              <a:gd name="adj" fmla="val 12000"/>
            </a:avLst>
          </a:prstGeom>
          <a:solidFill>
            <a:srgbClr val="E6F1FB"/>
          </a:solidFill>
          <a:ln w="13970">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1F3551"/>
                </a:solidFill>
                <a:latin typeface="Calibri"/>
              </a:rPr>
              <a:t>Cloud AI</a:t>
            </a:r>
          </a:p>
        </p:txBody>
      </p:sp>
      <p:sp>
        <p:nvSpPr>
          <p:cNvPr id="32" name="Right Arrow 31"/>
          <p:cNvSpPr/>
          <p:nvPr/>
        </p:nvSpPr>
        <p:spPr>
          <a:xfrm>
            <a:off x="4983480" y="2551176"/>
            <a:ext cx="365760" cy="310896"/>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394960" y="2377440"/>
            <a:ext cx="1783080" cy="658368"/>
          </a:xfrm>
          <a:prstGeom prst="roundRect">
            <a:avLst>
              <a:gd name="adj" fmla="val 12000"/>
            </a:avLst>
          </a:prstGeom>
          <a:solidFill>
            <a:srgbClr val="FFFFFF"/>
          </a:solidFill>
          <a:ln w="13970">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1F3551"/>
                </a:solidFill>
                <a:latin typeface="Calibri"/>
              </a:rPr>
              <a:t>Response</a:t>
            </a:r>
          </a:p>
        </p:txBody>
      </p:sp>
      <p:sp>
        <p:nvSpPr>
          <p:cNvPr id="34" name="Rounded Rectangle 33"/>
          <p:cNvSpPr/>
          <p:nvPr/>
        </p:nvSpPr>
        <p:spPr>
          <a:xfrm>
            <a:off x="822960" y="3840480"/>
            <a:ext cx="1783080" cy="658368"/>
          </a:xfrm>
          <a:prstGeom prst="roundRect">
            <a:avLst>
              <a:gd name="adj" fmla="val 12000"/>
            </a:avLst>
          </a:prstGeom>
          <a:solidFill>
            <a:srgbClr val="E6F1FB"/>
          </a:solidFill>
          <a:ln w="13970">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1F3551"/>
                </a:solidFill>
                <a:latin typeface="Calibri"/>
              </a:rPr>
              <a:t>Device AI</a:t>
            </a:r>
          </a:p>
        </p:txBody>
      </p:sp>
      <p:sp>
        <p:nvSpPr>
          <p:cNvPr id="35" name="Right Arrow 34"/>
          <p:cNvSpPr/>
          <p:nvPr/>
        </p:nvSpPr>
        <p:spPr>
          <a:xfrm>
            <a:off x="2697480" y="4014215"/>
            <a:ext cx="365760" cy="310896"/>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3108960" y="3840480"/>
            <a:ext cx="1783080" cy="658368"/>
          </a:xfrm>
          <a:prstGeom prst="roundRect">
            <a:avLst>
              <a:gd name="adj" fmla="val 12000"/>
            </a:avLst>
          </a:prstGeom>
          <a:solidFill>
            <a:srgbClr val="FFFFFF"/>
          </a:solidFill>
          <a:ln w="13970">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1F3551"/>
                </a:solidFill>
                <a:latin typeface="Calibri"/>
              </a:rPr>
              <a:t>Enterprise AI</a:t>
            </a:r>
          </a:p>
        </p:txBody>
      </p:sp>
      <p:sp>
        <p:nvSpPr>
          <p:cNvPr id="37" name="Right Arrow 36"/>
          <p:cNvSpPr/>
          <p:nvPr/>
        </p:nvSpPr>
        <p:spPr>
          <a:xfrm>
            <a:off x="4983480" y="4014215"/>
            <a:ext cx="365760" cy="310896"/>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5394960" y="3840480"/>
            <a:ext cx="1783080" cy="658368"/>
          </a:xfrm>
          <a:prstGeom prst="roundRect">
            <a:avLst>
              <a:gd name="adj" fmla="val 12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50" b="1">
                <a:solidFill>
                  <a:srgbClr val="6B7280"/>
                </a:solidFill>
                <a:latin typeface="Calibri"/>
              </a:rPr>
              <a:t>Cloud AI</a:t>
            </a:r>
          </a:p>
        </p:txBody>
      </p:sp>
      <p:sp>
        <p:nvSpPr>
          <p:cNvPr id="39" name="Rounded Rectangle 38"/>
          <p:cNvSpPr/>
          <p:nvPr/>
        </p:nvSpPr>
        <p:spPr>
          <a:xfrm>
            <a:off x="7315200" y="3840480"/>
            <a:ext cx="3931920" cy="658368"/>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050" b="0">
                <a:solidFill>
                  <a:srgbClr val="6B7280"/>
                </a:solidFill>
                <a:latin typeface="Calibri"/>
              </a:rPr>
              <a:t>Cloud reserved for the harder requests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PERSONAL AI</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Bringing AI closer to the desktop</a:t>
            </a:r>
            <a:endParaRPr lang="en-US" sz="3700" dirty="0"/>
          </a:p>
        </p:txBody>
      </p:sp>
      <p:sp>
        <p:nvSpPr>
          <p:cNvPr id="4" name="Text 2"/>
          <p:cNvSpPr/>
          <p:nvPr/>
        </p:nvSpPr>
        <p:spPr>
          <a:xfrm>
            <a:off x="822960" y="2011680"/>
            <a:ext cx="6126480" cy="1645920"/>
          </a:xfrm>
          <a:prstGeom prst="rect">
            <a:avLst/>
          </a:prstGeom>
          <a:noFill/>
          <a:ln/>
        </p:spPr>
        <p:txBody>
          <a:bodyPr wrap="square" lIns="0" tIns="0" rIns="0" bIns="0" rtlCol="0" anchor="ctr"/>
          <a:lstStyle/>
          <a:p>
            <a:pPr marL="0" indent="0">
              <a:lnSpc>
                <a:spcPct val="125000"/>
              </a:lnSpc>
              <a:buNone/>
            </a:pPr>
            <a:r>
              <a:rPr lang="en-US" sz="2050" dirty="0">
                <a:solidFill>
                  <a:srgbClr val="3A3A3A"/>
                </a:solidFill>
                <a:latin typeface="Calibri" pitchFamily="34" charset="0"/>
                <a:ea typeface="Calibri" pitchFamily="34" charset="-122"/>
                <a:cs typeface="Calibri" pitchFamily="34" charset="-120"/>
              </a:rPr>
              <a:t>Better hardware and more efficient models make it practical to run capable AI on a user's own machine — so a portion of what used to need the datacenter now happens locally.</a:t>
            </a:r>
            <a:endParaRPr lang="en-US" sz="2050" dirty="0"/>
          </a:p>
        </p:txBody>
      </p:sp>
      <p:sp>
        <p:nvSpPr>
          <p:cNvPr id="5" name="Text 3"/>
          <p:cNvSpPr/>
          <p:nvPr/>
        </p:nvSpPr>
        <p:spPr>
          <a:xfrm>
            <a:off x="822960" y="4297680"/>
            <a:ext cx="6126480" cy="1828800"/>
          </a:xfrm>
          <a:prstGeom prst="rect">
            <a:avLst/>
          </a:prstGeom>
          <a:noFill/>
          <a:ln/>
        </p:spPr>
        <p:txBody>
          <a:bodyPr wrap="square" lIns="0" tIns="0" rIns="0" bIns="0" rtlCol="0" anchor="t"/>
          <a:lstStyle/>
          <a:p>
            <a:pPr marL="203200" indent="-203200">
              <a:spcAft>
                <a:spcPts val="1100"/>
              </a:spcAft>
              <a:buSzPct val="100000"/>
              <a:buChar char="–"/>
            </a:pPr>
            <a:r>
              <a:rPr lang="en-US" sz="2000" dirty="0">
                <a:solidFill>
                  <a:srgbClr val="3A3A3A"/>
                </a:solidFill>
                <a:latin typeface="Calibri" pitchFamily="34" charset="0"/>
                <a:ea typeface="Calibri" pitchFamily="34" charset="-122"/>
                <a:cs typeface="Calibri" pitchFamily="34" charset="-120"/>
              </a:rPr>
              <a:t>Lower cost, since less work goes to the cloud</a:t>
            </a:r>
            <a:endParaRPr lang="en-US" sz="2000" dirty="0"/>
          </a:p>
          <a:p>
            <a:pPr marL="203200" indent="-203200">
              <a:spcAft>
                <a:spcPts val="1100"/>
              </a:spcAft>
              <a:buSzPct val="100000"/>
              <a:buChar char="–"/>
            </a:pPr>
            <a:r>
              <a:rPr lang="en-US" sz="2000" dirty="0">
                <a:solidFill>
                  <a:srgbClr val="3A3A3A"/>
                </a:solidFill>
                <a:latin typeface="Calibri" pitchFamily="34" charset="0"/>
                <a:ea typeface="Calibri" pitchFamily="34" charset="-122"/>
                <a:cs typeface="Calibri" pitchFamily="34" charset="-120"/>
              </a:rPr>
              <a:t>Better privacy, with data kept on the device</a:t>
            </a:r>
            <a:endParaRPr lang="en-US" sz="2000" dirty="0"/>
          </a:p>
          <a:p>
            <a:pPr marL="203200" indent="-203200">
              <a:spcAft>
                <a:spcPts val="1100"/>
              </a:spcAft>
              <a:buSzPct val="100000"/>
              <a:buChar char="–"/>
            </a:pPr>
            <a:r>
              <a:rPr lang="en-US" sz="2000" dirty="0">
                <a:solidFill>
                  <a:srgbClr val="3A3A3A"/>
                </a:solidFill>
                <a:latin typeface="Calibri" pitchFamily="34" charset="0"/>
                <a:ea typeface="Calibri" pitchFamily="34" charset="-122"/>
                <a:cs typeface="Calibri" pitchFamily="34" charset="-120"/>
              </a:rPr>
              <a:t>Faster responses for everyday tasks</a:t>
            </a:r>
            <a:endParaRPr lang="en-US" sz="2000" dirty="0"/>
          </a:p>
          <a:p>
            <a:pPr marL="203200" indent="-203200">
              <a:buSzPct val="100000"/>
              <a:buChar char="–"/>
            </a:pPr>
            <a:r>
              <a:rPr lang="en-US" sz="2000" dirty="0">
                <a:solidFill>
                  <a:srgbClr val="3A3A3A"/>
                </a:solidFill>
                <a:latin typeface="Calibri" pitchFamily="34" charset="0"/>
                <a:ea typeface="Calibri" pitchFamily="34" charset="-122"/>
                <a:cs typeface="Calibri" pitchFamily="34" charset="-120"/>
              </a:rPr>
              <a:t>Closer integration with local files and data</a:t>
            </a:r>
            <a:endParaRPr lang="en-US" sz="2000" dirty="0"/>
          </a:p>
        </p:txBody>
      </p:sp>
      <p:sp>
        <p:nvSpPr>
          <p:cNvPr id="6" name="Shape 4"/>
          <p:cNvSpPr/>
          <p:nvPr/>
        </p:nvSpPr>
        <p:spPr>
          <a:xfrm>
            <a:off x="7406640" y="2011680"/>
            <a:ext cx="3931920" cy="3657600"/>
          </a:xfrm>
          <a:prstGeom prst="rect">
            <a:avLst/>
          </a:prstGeom>
          <a:solidFill>
            <a:srgbClr val="EDF1F6"/>
          </a:solidFill>
          <a:ln w="12700">
            <a:solidFill>
              <a:srgbClr val="D7DCE3"/>
            </a:solidFill>
            <a:prstDash val="dash"/>
          </a:ln>
        </p:spPr>
      </p:sp>
      <p:sp>
        <p:nvSpPr>
          <p:cNvPr id="7" name="Text 5"/>
          <p:cNvSpPr/>
          <p:nvPr/>
        </p:nvSpPr>
        <p:spPr>
          <a:xfrm>
            <a:off x="7406640" y="3657600"/>
            <a:ext cx="3931920" cy="365760"/>
          </a:xfrm>
          <a:prstGeom prst="rect">
            <a:avLst/>
          </a:prstGeom>
          <a:noFill/>
          <a:ln/>
        </p:spPr>
        <p:txBody>
          <a:bodyPr wrap="square" lIns="0" tIns="0" rIns="0" bIns="0" rtlCol="0" anchor="ctr"/>
          <a:lstStyle/>
          <a:p>
            <a:pPr marL="0" indent="0" algn="ctr">
              <a:buNone/>
            </a:pPr>
            <a:r>
              <a:rPr lang="en-US" sz="1450" i="1" dirty="0">
                <a:solidFill>
                  <a:srgbClr val="6B7280"/>
                </a:solidFill>
                <a:latin typeface="Calibri" pitchFamily="34" charset="0"/>
                <a:ea typeface="Calibri" pitchFamily="34" charset="-122"/>
                <a:cs typeface="Calibri" pitchFamily="34" charset="-120"/>
              </a:rPr>
              <a:t>Add a photo (e.g. a laptop / workplace)</a:t>
            </a:r>
            <a:endParaRPr lang="en-US" sz="1450" dirty="0"/>
          </a:p>
        </p:txBody>
      </p:sp>
      <p:sp>
        <p:nvSpPr>
          <p:cNvPr id="8" name="Text 6"/>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9" name="Text 7"/>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9</a:t>
            </a:r>
            <a:endParaRPr lang="en-US" sz="11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NEW MODELS</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Microsoft's own AI (MAI) models</a:t>
            </a:r>
            <a:endParaRPr lang="en-US" sz="3700" dirty="0"/>
          </a:p>
        </p:txBody>
      </p:sp>
      <p:sp>
        <p:nvSpPr>
          <p:cNvPr id="4" name="Text 2"/>
          <p:cNvSpPr/>
          <p:nvPr/>
        </p:nvSpPr>
        <p:spPr>
          <a:xfrm>
            <a:off x="822960" y="2011680"/>
            <a:ext cx="5120640" cy="2743200"/>
          </a:xfrm>
          <a:prstGeom prst="rect">
            <a:avLst/>
          </a:prstGeom>
          <a:noFill/>
          <a:ln/>
        </p:spPr>
        <p:txBody>
          <a:bodyPr wrap="square" lIns="0" tIns="0" rIns="0" bIns="0" rtlCol="0" anchor="ctr"/>
          <a:lstStyle/>
          <a:p>
            <a:pPr marL="0" indent="0">
              <a:lnSpc>
                <a:spcPct val="125000"/>
              </a:lnSpc>
              <a:buNone/>
            </a:pPr>
            <a:r>
              <a:rPr lang="en-US" sz="2050" dirty="0">
                <a:solidFill>
                  <a:srgbClr val="3A3A3A"/>
                </a:solidFill>
                <a:latin typeface="Calibri" pitchFamily="34" charset="0"/>
                <a:ea typeface="Calibri" pitchFamily="34" charset="-122"/>
                <a:cs typeface="Calibri" pitchFamily="34" charset="-120"/>
              </a:rPr>
              <a:t>Microsoft introduced more of its own models. The strategic point matters more than any single release: Microsoft is positioning itself as both the platform you build on and a provider of the underlying models.</a:t>
            </a:r>
            <a:endParaRPr lang="en-US" sz="2050" dirty="0"/>
          </a:p>
        </p:txBody>
      </p:sp>
      <p:sp>
        <p:nvSpPr>
          <p:cNvPr id="5" name="Text 3"/>
          <p:cNvSpPr/>
          <p:nvPr/>
        </p:nvSpPr>
        <p:spPr>
          <a:xfrm>
            <a:off x="6400800" y="2011680"/>
            <a:ext cx="4937760" cy="365760"/>
          </a:xfrm>
          <a:prstGeom prst="rect">
            <a:avLst/>
          </a:prstGeom>
          <a:noFill/>
          <a:ln/>
        </p:spPr>
        <p:txBody>
          <a:bodyPr wrap="square" lIns="0" tIns="0" rIns="0" bIns="0" rtlCol="0" anchor="ctr"/>
          <a:lstStyle/>
          <a:p>
            <a:pPr marL="0" indent="0">
              <a:buNone/>
            </a:pPr>
            <a:r>
              <a:rPr lang="en-US" sz="2050" b="1" dirty="0">
                <a:solidFill>
                  <a:srgbClr val="1F3551"/>
                </a:solidFill>
                <a:latin typeface="Calibri" pitchFamily="34" charset="0"/>
                <a:ea typeface="Calibri" pitchFamily="34" charset="-122"/>
                <a:cs typeface="Calibri" pitchFamily="34" charset="-120"/>
              </a:rPr>
              <a:t>Where the focus is</a:t>
            </a:r>
            <a:endParaRPr lang="en-US" sz="2050" dirty="0"/>
          </a:p>
        </p:txBody>
      </p:sp>
      <p:sp>
        <p:nvSpPr>
          <p:cNvPr id="6" name="Text 4"/>
          <p:cNvSpPr/>
          <p:nvPr/>
        </p:nvSpPr>
        <p:spPr>
          <a:xfrm>
            <a:off x="6400800" y="2514600"/>
            <a:ext cx="4937760" cy="2377440"/>
          </a:xfrm>
          <a:prstGeom prst="rect">
            <a:avLst/>
          </a:prstGeom>
          <a:noFill/>
          <a:ln/>
        </p:spPr>
        <p:txBody>
          <a:bodyPr wrap="square" lIns="0" tIns="0" rIns="0" bIns="0" rtlCol="0" anchor="t"/>
          <a:lstStyle/>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Reasoning — stronger multi-step problem solving</a:t>
            </a:r>
            <a:endParaRPr lang="en-US" sz="2000" dirty="0"/>
          </a:p>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Efficiency — more output for the compute used</a:t>
            </a:r>
            <a:endParaRPr lang="en-US" sz="2000" dirty="0"/>
          </a:p>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Cost — lower to run at scale</a:t>
            </a:r>
            <a:endParaRPr lang="en-US" sz="2000" dirty="0"/>
          </a:p>
          <a:p>
            <a:pPr marL="203200" indent="-203200">
              <a:buSzPct val="100000"/>
              <a:buChar char="–"/>
            </a:pPr>
            <a:r>
              <a:rPr lang="en-US" sz="2000" dirty="0">
                <a:solidFill>
                  <a:srgbClr val="3A3A3A"/>
                </a:solidFill>
                <a:latin typeface="Calibri" pitchFamily="34" charset="0"/>
                <a:ea typeface="Calibri" pitchFamily="34" charset="-122"/>
                <a:cs typeface="Calibri" pitchFamily="34" charset="-120"/>
              </a:rPr>
              <a:t>Enterprise fit — designed to work with business data</a:t>
            </a:r>
            <a:endParaRPr lang="en-US" sz="2000" dirty="0"/>
          </a:p>
        </p:txBody>
      </p:sp>
      <p:sp>
        <p:nvSpPr>
          <p:cNvPr id="7" name="Text 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8" name="Text 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10</a:t>
            </a:r>
            <a:endParaRPr lang="en-US" sz="11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BUILDING SOFTWARE</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From code completion to task completion</a:t>
            </a:r>
            <a:endParaRPr lang="en-US" sz="3700" dirty="0"/>
          </a:p>
        </p:txBody>
      </p:sp>
      <p:sp>
        <p:nvSpPr>
          <p:cNvPr id="4" name="Shape 2"/>
          <p:cNvSpPr/>
          <p:nvPr/>
        </p:nvSpPr>
        <p:spPr>
          <a:xfrm>
            <a:off x="822960" y="1965960"/>
            <a:ext cx="4983480" cy="1737360"/>
          </a:xfrm>
          <a:prstGeom prst="rect">
            <a:avLst/>
          </a:prstGeom>
          <a:solidFill>
            <a:srgbClr val="F5F7FA"/>
          </a:solidFill>
          <a:ln w="12700">
            <a:solidFill>
              <a:srgbClr val="D7DCE3"/>
            </a:solidFill>
            <a:prstDash val="solid"/>
          </a:ln>
        </p:spPr>
      </p:sp>
      <p:sp>
        <p:nvSpPr>
          <p:cNvPr id="5" name="Text 3"/>
          <p:cNvSpPr/>
          <p:nvPr/>
        </p:nvSpPr>
        <p:spPr>
          <a:xfrm>
            <a:off x="1097280" y="2194560"/>
            <a:ext cx="4434840" cy="365760"/>
          </a:xfrm>
          <a:prstGeom prst="rect">
            <a:avLst/>
          </a:prstGeom>
          <a:noFill/>
          <a:ln/>
        </p:spPr>
        <p:txBody>
          <a:bodyPr wrap="square" lIns="0" tIns="0" rIns="0" bIns="0" rtlCol="0" anchor="ctr"/>
          <a:lstStyle/>
          <a:p>
            <a:pPr marL="0" indent="0">
              <a:buNone/>
            </a:pPr>
            <a:r>
              <a:rPr lang="en-US" sz="1900" b="1" dirty="0">
                <a:solidFill>
                  <a:srgbClr val="6B7280"/>
                </a:solidFill>
                <a:latin typeface="Calibri" pitchFamily="34" charset="0"/>
                <a:ea typeface="Calibri" pitchFamily="34" charset="-122"/>
                <a:cs typeface="Calibri" pitchFamily="34" charset="-120"/>
              </a:rPr>
              <a:t>Previously</a:t>
            </a:r>
            <a:endParaRPr lang="en-US" sz="1900" dirty="0"/>
          </a:p>
        </p:txBody>
      </p:sp>
      <p:sp>
        <p:nvSpPr>
          <p:cNvPr id="6" name="Text 4"/>
          <p:cNvSpPr/>
          <p:nvPr/>
        </p:nvSpPr>
        <p:spPr>
          <a:xfrm>
            <a:off x="1097280" y="2606040"/>
            <a:ext cx="4434840" cy="914400"/>
          </a:xfrm>
          <a:prstGeom prst="rect">
            <a:avLst/>
          </a:prstGeom>
          <a:noFill/>
          <a:ln/>
        </p:spPr>
        <p:txBody>
          <a:bodyPr wrap="square" lIns="0" tIns="0" rIns="0" bIns="0" rtlCol="0" anchor="ctr"/>
          <a:lstStyle/>
          <a:p>
            <a:pPr marL="0" indent="0">
              <a:buNone/>
            </a:pPr>
            <a:r>
              <a:rPr lang="en-US" sz="2000" dirty="0">
                <a:solidFill>
                  <a:srgbClr val="2E2E2E"/>
                </a:solidFill>
                <a:latin typeface="Calibri" pitchFamily="34" charset="0"/>
                <a:ea typeface="Calibri" pitchFamily="34" charset="-122"/>
                <a:cs typeface="Calibri" pitchFamily="34" charset="-120"/>
              </a:rPr>
              <a:t>The assistant completed the current line or block as you typed.</a:t>
            </a:r>
            <a:endParaRPr lang="en-US" sz="2000" dirty="0"/>
          </a:p>
        </p:txBody>
      </p:sp>
      <p:sp>
        <p:nvSpPr>
          <p:cNvPr id="7" name="Shape 5"/>
          <p:cNvSpPr/>
          <p:nvPr/>
        </p:nvSpPr>
        <p:spPr>
          <a:xfrm>
            <a:off x="6355080" y="1965960"/>
            <a:ext cx="4983480" cy="1737360"/>
          </a:xfrm>
          <a:prstGeom prst="rect">
            <a:avLst/>
          </a:prstGeom>
          <a:solidFill>
            <a:srgbClr val="FFFFFF"/>
          </a:solidFill>
          <a:ln w="12700">
            <a:solidFill>
              <a:srgbClr val="D7DCE3"/>
            </a:solidFill>
            <a:prstDash val="solid"/>
          </a:ln>
        </p:spPr>
      </p:sp>
      <p:sp>
        <p:nvSpPr>
          <p:cNvPr id="8" name="Shape 6"/>
          <p:cNvSpPr/>
          <p:nvPr/>
        </p:nvSpPr>
        <p:spPr>
          <a:xfrm>
            <a:off x="6355080" y="1965960"/>
            <a:ext cx="4983480" cy="64008"/>
          </a:xfrm>
          <a:prstGeom prst="rect">
            <a:avLst/>
          </a:prstGeom>
          <a:solidFill>
            <a:srgbClr val="0078D4"/>
          </a:solidFill>
          <a:ln/>
        </p:spPr>
      </p:sp>
      <p:sp>
        <p:nvSpPr>
          <p:cNvPr id="9" name="Text 7"/>
          <p:cNvSpPr/>
          <p:nvPr/>
        </p:nvSpPr>
        <p:spPr>
          <a:xfrm>
            <a:off x="6629400" y="2194560"/>
            <a:ext cx="4434840" cy="365760"/>
          </a:xfrm>
          <a:prstGeom prst="rect">
            <a:avLst/>
          </a:prstGeom>
          <a:noFill/>
          <a:ln/>
        </p:spPr>
        <p:txBody>
          <a:bodyPr wrap="square" lIns="0" tIns="0" rIns="0" bIns="0" rtlCol="0" anchor="ctr"/>
          <a:lstStyle/>
          <a:p>
            <a:pPr marL="0" indent="0">
              <a:buNone/>
            </a:pPr>
            <a:r>
              <a:rPr lang="en-US" sz="1900" b="1" dirty="0">
                <a:solidFill>
                  <a:srgbClr val="1F3551"/>
                </a:solidFill>
                <a:latin typeface="Calibri" pitchFamily="34" charset="0"/>
                <a:ea typeface="Calibri" pitchFamily="34" charset="-122"/>
                <a:cs typeface="Calibri" pitchFamily="34" charset="-120"/>
              </a:rPr>
              <a:t>Increasingly</a:t>
            </a:r>
            <a:endParaRPr lang="en-US" sz="1900" dirty="0"/>
          </a:p>
        </p:txBody>
      </p:sp>
      <p:sp>
        <p:nvSpPr>
          <p:cNvPr id="10" name="Text 8"/>
          <p:cNvSpPr/>
          <p:nvPr/>
        </p:nvSpPr>
        <p:spPr>
          <a:xfrm>
            <a:off x="6629400" y="2606040"/>
            <a:ext cx="4434840" cy="914400"/>
          </a:xfrm>
          <a:prstGeom prst="rect">
            <a:avLst/>
          </a:prstGeom>
          <a:noFill/>
          <a:ln/>
        </p:spPr>
        <p:txBody>
          <a:bodyPr wrap="square" lIns="0" tIns="0" rIns="0" bIns="0" rtlCol="0" anchor="ctr"/>
          <a:lstStyle/>
          <a:p>
            <a:pPr marL="0" indent="0">
              <a:buNone/>
            </a:pPr>
            <a:r>
              <a:rPr lang="en-US" sz="2000" dirty="0">
                <a:solidFill>
                  <a:srgbClr val="2E2E2E"/>
                </a:solidFill>
                <a:latin typeface="Calibri" pitchFamily="34" charset="0"/>
                <a:ea typeface="Calibri" pitchFamily="34" charset="-122"/>
                <a:cs typeface="Calibri" pitchFamily="34" charset="-120"/>
              </a:rPr>
              <a:t>You describe the outcome you want, and the assistant helps carry it out across files.</a:t>
            </a:r>
            <a:endParaRPr lang="en-US" sz="2000" dirty="0"/>
          </a:p>
        </p:txBody>
      </p:sp>
      <p:sp>
        <p:nvSpPr>
          <p:cNvPr id="11" name="Text 9"/>
          <p:cNvSpPr/>
          <p:nvPr/>
        </p:nvSpPr>
        <p:spPr>
          <a:xfrm>
            <a:off x="822960" y="4069080"/>
            <a:ext cx="10515600" cy="731520"/>
          </a:xfrm>
          <a:prstGeom prst="rect">
            <a:avLst/>
          </a:prstGeom>
          <a:noFill/>
          <a:ln/>
        </p:spPr>
        <p:txBody>
          <a:bodyPr wrap="square" lIns="0" tIns="0" rIns="0" bIns="0" rtlCol="0" anchor="ctr"/>
          <a:lstStyle/>
          <a:p>
            <a:pPr marL="0" indent="0">
              <a:lnSpc>
                <a:spcPct val="120000"/>
              </a:lnSpc>
              <a:buNone/>
            </a:pPr>
            <a:r>
              <a:rPr lang="en-US" sz="2000" dirty="0">
                <a:solidFill>
                  <a:srgbClr val="3A3A3A"/>
                </a:solidFill>
                <a:latin typeface="Calibri" pitchFamily="34" charset="0"/>
                <a:ea typeface="Calibri" pitchFamily="34" charset="-122"/>
                <a:cs typeface="Calibri" pitchFamily="34" charset="-120"/>
              </a:rPr>
              <a:t>Seen across the tooling: GitHub Copilot, agent modes in the editor, code and documentation generation, and help with refactoring.</a:t>
            </a:r>
            <a:endParaRPr lang="en-US" sz="2000" dirty="0"/>
          </a:p>
        </p:txBody>
      </p:sp>
      <p:sp>
        <p:nvSpPr>
          <p:cNvPr id="12" name="Text 10"/>
          <p:cNvSpPr/>
          <p:nvPr/>
        </p:nvSpPr>
        <p:spPr>
          <a:xfrm>
            <a:off x="822960" y="4983480"/>
            <a:ext cx="10515600" cy="640080"/>
          </a:xfrm>
          <a:prstGeom prst="rect">
            <a:avLst/>
          </a:prstGeom>
          <a:noFill/>
          <a:ln/>
        </p:spPr>
        <p:txBody>
          <a:bodyPr wrap="square" lIns="0" tIns="0" rIns="0" bIns="0" rtlCol="0" anchor="ctr"/>
          <a:lstStyle/>
          <a:p>
            <a:pPr marL="0" indent="0">
              <a:buNone/>
            </a:pPr>
            <a:r>
              <a:rPr lang="en-US" sz="2000" i="1" dirty="0">
                <a:solidFill>
                  <a:srgbClr val="3A3A3A"/>
                </a:solidFill>
                <a:latin typeface="Calibri" pitchFamily="34" charset="0"/>
                <a:ea typeface="Calibri" pitchFamily="34" charset="-122"/>
                <a:cs typeface="Calibri" pitchFamily="34" charset="-120"/>
              </a:rPr>
              <a:t>A recurring idea was reusable “skills” — capabilities built once and reused across projects, rather than rebuilt each time.</a:t>
            </a:r>
            <a:endParaRPr lang="en-US" sz="2000" dirty="0"/>
          </a:p>
        </p:txBody>
      </p:sp>
      <p:sp>
        <p:nvSpPr>
          <p:cNvPr id="13" name="Text 11"/>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4" name="Text 12"/>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11</a:t>
            </a:r>
            <a:endParaRPr lang="en-US" sz="11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DATA AND ACCESS</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Only as useful as the data it can reach</a:t>
            </a:r>
            <a:endParaRPr lang="en-US" sz="3700" dirty="0"/>
          </a:p>
        </p:txBody>
      </p:sp>
      <p:sp>
        <p:nvSpPr>
          <p:cNvPr id="4" name="Text 2"/>
          <p:cNvSpPr/>
          <p:nvPr/>
        </p:nvSpPr>
        <p:spPr>
          <a:xfrm>
            <a:off x="822960" y="2011680"/>
            <a:ext cx="5120640" cy="2743200"/>
          </a:xfrm>
          <a:prstGeom prst="rect">
            <a:avLst/>
          </a:prstGeom>
          <a:noFill/>
          <a:ln/>
        </p:spPr>
        <p:txBody>
          <a:bodyPr wrap="square" lIns="0" tIns="0" rIns="0" bIns="0" rtlCol="0" anchor="ctr"/>
          <a:lstStyle/>
          <a:p>
            <a:pPr marL="0" indent="0">
              <a:lnSpc>
                <a:spcPct val="125000"/>
              </a:lnSpc>
              <a:buNone/>
            </a:pPr>
            <a:r>
              <a:rPr lang="en-US" sz="2050" dirty="0">
                <a:solidFill>
                  <a:srgbClr val="3A3A3A"/>
                </a:solidFill>
                <a:latin typeface="Calibri" pitchFamily="34" charset="0"/>
                <a:ea typeface="Calibri" pitchFamily="34" charset="-122"/>
                <a:cs typeface="Calibri" pitchFamily="34" charset="-120"/>
              </a:rPr>
              <a:t>Microsoft Fabric was presented as a key part of putting AI to work in an organization. The point is simple: AI becomes valuable when it can draw on your own data, not just public information — so answers are grounded in the business.</a:t>
            </a:r>
            <a:endParaRPr lang="en-US" sz="2050" dirty="0"/>
          </a:p>
        </p:txBody>
      </p:sp>
      <p:sp>
        <p:nvSpPr>
          <p:cNvPr id="5" name="Text 3"/>
          <p:cNvSpPr/>
          <p:nvPr/>
        </p:nvSpPr>
        <p:spPr>
          <a:xfrm>
            <a:off x="6400800" y="2011680"/>
            <a:ext cx="4937760" cy="365760"/>
          </a:xfrm>
          <a:prstGeom prst="rect">
            <a:avLst/>
          </a:prstGeom>
          <a:noFill/>
          <a:ln/>
        </p:spPr>
        <p:txBody>
          <a:bodyPr wrap="square" lIns="0" tIns="0" rIns="0" bIns="0" rtlCol="0" anchor="ctr"/>
          <a:lstStyle/>
          <a:p>
            <a:pPr marL="0" indent="0">
              <a:buNone/>
            </a:pPr>
            <a:r>
              <a:rPr lang="en-US" sz="2050" b="1" dirty="0">
                <a:solidFill>
                  <a:srgbClr val="1F3551"/>
                </a:solidFill>
                <a:latin typeface="Calibri" pitchFamily="34" charset="0"/>
                <a:ea typeface="Calibri" pitchFamily="34" charset="-122"/>
                <a:cs typeface="Calibri" pitchFamily="34" charset="-120"/>
              </a:rPr>
              <a:t>What Fabric helps with</a:t>
            </a:r>
            <a:endParaRPr lang="en-US" sz="2050" dirty="0"/>
          </a:p>
        </p:txBody>
      </p:sp>
      <p:sp>
        <p:nvSpPr>
          <p:cNvPr id="6" name="Text 4"/>
          <p:cNvSpPr/>
          <p:nvPr/>
        </p:nvSpPr>
        <p:spPr>
          <a:xfrm>
            <a:off x="6400800" y="2514600"/>
            <a:ext cx="4937760" cy="2377440"/>
          </a:xfrm>
          <a:prstGeom prst="rect">
            <a:avLst/>
          </a:prstGeom>
          <a:noFill/>
          <a:ln/>
        </p:spPr>
        <p:txBody>
          <a:bodyPr wrap="square" lIns="0" tIns="0" rIns="0" bIns="0" rtlCol="0" anchor="t"/>
          <a:lstStyle/>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Bringing data sources together</a:t>
            </a:r>
            <a:endParaRPr lang="en-US" sz="2000" dirty="0"/>
          </a:p>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Analytics that turn data into insight</a:t>
            </a:r>
            <a:endParaRPr lang="en-US" sz="2000" dirty="0"/>
          </a:p>
          <a:p>
            <a:pPr marL="203200" indent="-203200">
              <a:spcAft>
                <a:spcPts val="1400"/>
              </a:spcAft>
              <a:buSzPct val="100000"/>
              <a:buChar char="–"/>
            </a:pPr>
            <a:r>
              <a:rPr lang="en-US" sz="2000" dirty="0">
                <a:solidFill>
                  <a:srgbClr val="3A3A3A"/>
                </a:solidFill>
                <a:latin typeface="Calibri" pitchFamily="34" charset="0"/>
                <a:ea typeface="Calibri" pitchFamily="34" charset="-122"/>
                <a:cs typeface="Calibri" pitchFamily="34" charset="-120"/>
              </a:rPr>
              <a:t>Governance over access and lineage</a:t>
            </a:r>
            <a:endParaRPr lang="en-US" sz="2000" dirty="0"/>
          </a:p>
          <a:p>
            <a:pPr marL="203200" indent="-203200">
              <a:buSzPct val="100000"/>
              <a:buChar char="–"/>
            </a:pPr>
            <a:r>
              <a:rPr lang="en-US" sz="2000" dirty="0">
                <a:solidFill>
                  <a:srgbClr val="3A3A3A"/>
                </a:solidFill>
                <a:latin typeface="Calibri" pitchFamily="34" charset="0"/>
                <a:ea typeface="Calibri" pitchFamily="34" charset="-122"/>
                <a:cs typeface="Calibri" pitchFamily="34" charset="-120"/>
              </a:rPr>
              <a:t>Giving AI controlled access to enterprise data</a:t>
            </a:r>
            <a:endParaRPr lang="en-US" sz="2000" dirty="0"/>
          </a:p>
        </p:txBody>
      </p:sp>
      <p:sp>
        <p:nvSpPr>
          <p:cNvPr id="7" name="Text 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8" name="Text 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12</a:t>
            </a:r>
            <a:endParaRPr lang="en-US" sz="11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THE KEY TECHNICAL DEVELOPMENT</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MCP: a common way for AI to reach your systems</a:t>
            </a:r>
            <a:endParaRPr lang="en-US" sz="3700" dirty="0"/>
          </a:p>
        </p:txBody>
      </p:sp>
      <p:sp>
        <p:nvSpPr>
          <p:cNvPr id="4" name="Text 2"/>
          <p:cNvSpPr/>
          <p:nvPr/>
        </p:nvSpPr>
        <p:spPr>
          <a:xfrm>
            <a:off x="822960" y="1874520"/>
            <a:ext cx="10515600" cy="777240"/>
          </a:xfrm>
          <a:prstGeom prst="rect">
            <a:avLst/>
          </a:prstGeom>
          <a:noFill/>
          <a:ln/>
        </p:spPr>
        <p:txBody>
          <a:bodyPr wrap="square" lIns="0" tIns="0" rIns="0" bIns="0" rtlCol="0" anchor="ctr"/>
          <a:lstStyle/>
          <a:p>
            <a:pPr marL="0" indent="0">
              <a:lnSpc>
                <a:spcPct val="120000"/>
              </a:lnSpc>
              <a:buNone/>
            </a:pPr>
            <a:r>
              <a:rPr lang="en-US" sz="2050" dirty="0">
                <a:solidFill>
                  <a:srgbClr val="3A3A3A"/>
                </a:solidFill>
                <a:latin typeface="Calibri" pitchFamily="34" charset="0"/>
                <a:ea typeface="Calibri" pitchFamily="34" charset="-122"/>
                <a:cs typeface="Calibri" pitchFamily="34" charset="-120"/>
              </a:rPr>
              <a:t>The Model Context Protocol (MCP) is an open standard that lets AI securely connect to tools and data — much as APIs created a common way for applications to talk to one another.</a:t>
            </a:r>
            <a:endParaRPr lang="en-US" sz="2050" dirty="0"/>
          </a:p>
        </p:txBody>
      </p:sp>
      <p:sp>
        <p:nvSpPr>
          <p:cNvPr id="25" name="Text 23"/>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26" name="Text 24"/>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13</a:t>
            </a:r>
            <a:endParaRPr lang="en-US" sz="1150" dirty="0"/>
          </a:p>
        </p:txBody>
      </p:sp>
      <p:sp>
        <p:nvSpPr>
          <p:cNvPr id="27" name="Rounded Rectangle 26"/>
          <p:cNvSpPr/>
          <p:nvPr/>
        </p:nvSpPr>
        <p:spPr>
          <a:xfrm>
            <a:off x="822960" y="2788920"/>
            <a:ext cx="10515600" cy="347472"/>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t"/>
          <a:lstStyle/>
          <a:p>
            <a:pPr algn="l"/>
            <a:r>
              <a:rPr sz="1500" b="1">
                <a:solidFill>
                  <a:srgbClr val="1F3551"/>
                </a:solidFill>
                <a:latin typeface="Calibri"/>
              </a:rPr>
              <a:t>One agent, many systems — connected through MCP</a:t>
            </a:r>
          </a:p>
        </p:txBody>
      </p:sp>
      <p:sp>
        <p:nvSpPr>
          <p:cNvPr id="28" name="Rounded Rectangle 27"/>
          <p:cNvSpPr/>
          <p:nvPr/>
        </p:nvSpPr>
        <p:spPr>
          <a:xfrm>
            <a:off x="822960" y="3886200"/>
            <a:ext cx="1828800" cy="868680"/>
          </a:xfrm>
          <a:prstGeom prst="roundRect">
            <a:avLst>
              <a:gd name="adj" fmla="val 12000"/>
            </a:avLst>
          </a:prstGeom>
          <a:solidFill>
            <a:srgbClr val="E6F1FB"/>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50" b="1">
                <a:solidFill>
                  <a:srgbClr val="1F3551"/>
                </a:solidFill>
                <a:latin typeface="Calibri"/>
              </a:rPr>
              <a:t>AI agent</a:t>
            </a:r>
          </a:p>
        </p:txBody>
      </p:sp>
      <p:sp>
        <p:nvSpPr>
          <p:cNvPr id="29" name="Rounded Rectangle 28"/>
          <p:cNvSpPr/>
          <p:nvPr/>
        </p:nvSpPr>
        <p:spPr>
          <a:xfrm>
            <a:off x="3200400" y="3749039"/>
            <a:ext cx="1691640" cy="1143000"/>
          </a:xfrm>
          <a:prstGeom prst="roundRect">
            <a:avLst>
              <a:gd name="adj" fmla="val 14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900" b="1">
                <a:solidFill>
                  <a:srgbClr val="FFFFFF"/>
                </a:solidFill>
                <a:latin typeface="Calibri"/>
              </a:rPr>
              <a:t>MCP</a:t>
            </a:r>
          </a:p>
          <a:p>
            <a:pPr algn="ctr"/>
            <a:r>
              <a:rPr sz="950" b="0">
                <a:solidFill>
                  <a:srgbClr val="FFFFFF"/>
                </a:solidFill>
                <a:latin typeface="Calibri"/>
              </a:rPr>
              <a:t>open standard</a:t>
            </a:r>
          </a:p>
        </p:txBody>
      </p:sp>
      <p:cxnSp>
        <p:nvCxnSpPr>
          <p:cNvPr id="30" name="Connector 29"/>
          <p:cNvCxnSpPr/>
          <p:nvPr/>
        </p:nvCxnSpPr>
        <p:spPr>
          <a:xfrm>
            <a:off x="2651760" y="4315968"/>
            <a:ext cx="548640" cy="0"/>
          </a:xfrm>
          <a:prstGeom prst="line">
            <a:avLst/>
          </a:prstGeom>
          <a:ln w="22225">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858000" y="2907792"/>
            <a:ext cx="3291840" cy="731520"/>
          </a:xfrm>
          <a:prstGeom prst="roundRect">
            <a:avLst>
              <a:gd name="adj" fmla="val 12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SQL Server &amp; databases</a:t>
            </a:r>
          </a:p>
        </p:txBody>
      </p:sp>
      <p:cxnSp>
        <p:nvCxnSpPr>
          <p:cNvPr id="32" name="Connector 31"/>
          <p:cNvCxnSpPr/>
          <p:nvPr/>
        </p:nvCxnSpPr>
        <p:spPr>
          <a:xfrm flipV="1">
            <a:off x="4892040" y="3273552"/>
            <a:ext cx="1965960" cy="1042416"/>
          </a:xfrm>
          <a:prstGeom prst="line">
            <a:avLst/>
          </a:prstGeom>
          <a:ln w="22225">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858000" y="3776472"/>
            <a:ext cx="3291840" cy="731520"/>
          </a:xfrm>
          <a:prstGeom prst="roundRect">
            <a:avLst>
              <a:gd name="adj" fmla="val 12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Document stores</a:t>
            </a:r>
          </a:p>
        </p:txBody>
      </p:sp>
      <p:cxnSp>
        <p:nvCxnSpPr>
          <p:cNvPr id="34" name="Connector 33"/>
          <p:cNvCxnSpPr/>
          <p:nvPr/>
        </p:nvCxnSpPr>
        <p:spPr>
          <a:xfrm flipV="1">
            <a:off x="4892040" y="4142232"/>
            <a:ext cx="1965960" cy="173736"/>
          </a:xfrm>
          <a:prstGeom prst="line">
            <a:avLst/>
          </a:prstGeom>
          <a:ln w="22225">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858000" y="4645152"/>
            <a:ext cx="3291840" cy="731520"/>
          </a:xfrm>
          <a:prstGeom prst="roundRect">
            <a:avLst>
              <a:gd name="adj" fmla="val 12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Internal APIs &amp; tools</a:t>
            </a:r>
          </a:p>
        </p:txBody>
      </p:sp>
      <p:cxnSp>
        <p:nvCxnSpPr>
          <p:cNvPr id="36" name="Connector 35"/>
          <p:cNvCxnSpPr/>
          <p:nvPr/>
        </p:nvCxnSpPr>
        <p:spPr>
          <a:xfrm>
            <a:off x="4892040" y="4315968"/>
            <a:ext cx="1965960" cy="694944"/>
          </a:xfrm>
          <a:prstGeom prst="line">
            <a:avLst/>
          </a:prstGeom>
          <a:ln w="22225">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858000" y="5513832"/>
            <a:ext cx="3291840" cy="731520"/>
          </a:xfrm>
          <a:prstGeom prst="roundRect">
            <a:avLst>
              <a:gd name="adj" fmla="val 12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200" b="1">
                <a:solidFill>
                  <a:srgbClr val="1F3551"/>
                </a:solidFill>
                <a:latin typeface="Calibri"/>
              </a:rPr>
              <a:t>Email &amp; files</a:t>
            </a:r>
          </a:p>
        </p:txBody>
      </p:sp>
      <p:cxnSp>
        <p:nvCxnSpPr>
          <p:cNvPr id="38" name="Connector 37"/>
          <p:cNvCxnSpPr/>
          <p:nvPr/>
        </p:nvCxnSpPr>
        <p:spPr>
          <a:xfrm>
            <a:off x="4892040" y="4315968"/>
            <a:ext cx="1965960" cy="1563624"/>
          </a:xfrm>
          <a:prstGeom prst="line">
            <a:avLst/>
          </a:prstGeom>
          <a:ln w="22225">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MCP IN PRACTICE</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An example: a reporting assistant</a:t>
            </a:r>
            <a:endParaRPr lang="en-US" sz="3700" dirty="0"/>
          </a:p>
        </p:txBody>
      </p:sp>
      <p:sp>
        <p:nvSpPr>
          <p:cNvPr id="16" name="Text 14"/>
          <p:cNvSpPr/>
          <p:nvPr/>
        </p:nvSpPr>
        <p:spPr>
          <a:xfrm>
            <a:off x="822960" y="5212080"/>
            <a:ext cx="10515600" cy="731520"/>
          </a:xfrm>
          <a:prstGeom prst="rect">
            <a:avLst/>
          </a:prstGeom>
          <a:noFill/>
          <a:ln/>
        </p:spPr>
        <p:txBody>
          <a:bodyPr wrap="square" lIns="0" tIns="0" rIns="0" bIns="0" rtlCol="0" anchor="ctr"/>
          <a:lstStyle/>
          <a:p>
            <a:pPr marL="0" indent="0">
              <a:lnSpc>
                <a:spcPct val="115000"/>
              </a:lnSpc>
              <a:buNone/>
            </a:pPr>
            <a:r>
              <a:rPr lang="en-US" sz="1900" i="1" dirty="0">
                <a:solidFill>
                  <a:srgbClr val="6B7280"/>
                </a:solidFill>
                <a:latin typeface="Calibri" pitchFamily="34" charset="0"/>
                <a:ea typeface="Calibri" pitchFamily="34" charset="-122"/>
                <a:cs typeface="Calibri" pitchFamily="34" charset="-120"/>
              </a:rPr>
              <a:t>Each step is achievable on its own; MCP is what lets a single assistant carry them out in sequence. This is the direction the major providers are moving toward.</a:t>
            </a:r>
            <a:endParaRPr lang="en-US" sz="1900" dirty="0"/>
          </a:p>
        </p:txBody>
      </p:sp>
      <p:sp>
        <p:nvSpPr>
          <p:cNvPr id="17" name="Text 15"/>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8" name="Text 16"/>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14</a:t>
            </a:r>
            <a:endParaRPr lang="en-US" sz="1150" dirty="0"/>
          </a:p>
        </p:txBody>
      </p:sp>
      <p:sp>
        <p:nvSpPr>
          <p:cNvPr id="19" name="Rounded Rectangle 18"/>
          <p:cNvSpPr/>
          <p:nvPr/>
        </p:nvSpPr>
        <p:spPr>
          <a:xfrm>
            <a:off x="822960" y="224028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50976" y="2368296"/>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1</a:t>
            </a:r>
          </a:p>
        </p:txBody>
      </p:sp>
      <p:sp>
        <p:nvSpPr>
          <p:cNvPr id="21" name="Rounded Rectangle 20"/>
          <p:cNvSpPr/>
          <p:nvPr/>
        </p:nvSpPr>
        <p:spPr>
          <a:xfrm>
            <a:off x="1463040" y="2331720"/>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Connect to the database through MCP — no custom code</a:t>
            </a:r>
          </a:p>
        </p:txBody>
      </p:sp>
      <p:sp>
        <p:nvSpPr>
          <p:cNvPr id="22" name="Rounded Rectangle 21"/>
          <p:cNvSpPr/>
          <p:nvPr/>
        </p:nvSpPr>
        <p:spPr>
          <a:xfrm>
            <a:off x="4389120" y="224028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517136" y="2368296"/>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2</a:t>
            </a:r>
          </a:p>
        </p:txBody>
      </p:sp>
      <p:sp>
        <p:nvSpPr>
          <p:cNvPr id="24" name="Rounded Rectangle 23"/>
          <p:cNvSpPr/>
          <p:nvPr/>
        </p:nvSpPr>
        <p:spPr>
          <a:xfrm>
            <a:off x="5029200" y="2331720"/>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Read the schema to learn the tables and relationships</a:t>
            </a:r>
          </a:p>
        </p:txBody>
      </p:sp>
      <p:sp>
        <p:nvSpPr>
          <p:cNvPr id="25" name="Rounded Rectangle 24"/>
          <p:cNvSpPr/>
          <p:nvPr/>
        </p:nvSpPr>
        <p:spPr>
          <a:xfrm>
            <a:off x="7955279" y="224028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83296" y="2368296"/>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3</a:t>
            </a:r>
          </a:p>
        </p:txBody>
      </p:sp>
      <p:sp>
        <p:nvSpPr>
          <p:cNvPr id="27" name="Rounded Rectangle 26"/>
          <p:cNvSpPr/>
          <p:nvPr/>
        </p:nvSpPr>
        <p:spPr>
          <a:xfrm>
            <a:off x="8595359" y="2331720"/>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Turn a plain-language request into a query</a:t>
            </a:r>
          </a:p>
        </p:txBody>
      </p:sp>
      <p:sp>
        <p:nvSpPr>
          <p:cNvPr id="28" name="Rounded Rectangle 27"/>
          <p:cNvSpPr/>
          <p:nvPr/>
        </p:nvSpPr>
        <p:spPr>
          <a:xfrm>
            <a:off x="7955279" y="370332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083296" y="3831335"/>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4</a:t>
            </a:r>
          </a:p>
        </p:txBody>
      </p:sp>
      <p:sp>
        <p:nvSpPr>
          <p:cNvPr id="30" name="Rounded Rectangle 29"/>
          <p:cNvSpPr/>
          <p:nvPr/>
        </p:nvSpPr>
        <p:spPr>
          <a:xfrm>
            <a:off x="8595359" y="3794759"/>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Run the query within its granted permissions</a:t>
            </a:r>
          </a:p>
        </p:txBody>
      </p:sp>
      <p:sp>
        <p:nvSpPr>
          <p:cNvPr id="31" name="Rounded Rectangle 30"/>
          <p:cNvSpPr/>
          <p:nvPr/>
        </p:nvSpPr>
        <p:spPr>
          <a:xfrm>
            <a:off x="4389120" y="370332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517136" y="3831335"/>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5</a:t>
            </a:r>
          </a:p>
        </p:txBody>
      </p:sp>
      <p:sp>
        <p:nvSpPr>
          <p:cNvPr id="33" name="Rounded Rectangle 32"/>
          <p:cNvSpPr/>
          <p:nvPr/>
        </p:nvSpPr>
        <p:spPr>
          <a:xfrm>
            <a:off x="5029200" y="3794759"/>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Produce charts and a short summary of results</a:t>
            </a:r>
          </a:p>
        </p:txBody>
      </p:sp>
      <p:sp>
        <p:nvSpPr>
          <p:cNvPr id="34" name="Rounded Rectangle 33"/>
          <p:cNvSpPr/>
          <p:nvPr/>
        </p:nvSpPr>
        <p:spPr>
          <a:xfrm>
            <a:off x="822960" y="3703320"/>
            <a:ext cx="3246120" cy="960120"/>
          </a:xfrm>
          <a:prstGeom prst="roundRect">
            <a:avLst>
              <a:gd name="adj" fmla="val 8000"/>
            </a:avLst>
          </a:prstGeom>
          <a:solidFill>
            <a:srgbClr val="FFFFFF"/>
          </a:solidFill>
          <a:ln w="1397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50976" y="3831335"/>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500" b="1">
                <a:solidFill>
                  <a:srgbClr val="FFFFFF"/>
                </a:solidFill>
                <a:latin typeface="Calibri"/>
              </a:rPr>
              <a:t>6</a:t>
            </a:r>
          </a:p>
        </p:txBody>
      </p:sp>
      <p:sp>
        <p:nvSpPr>
          <p:cNvPr id="36" name="Rounded Rectangle 35"/>
          <p:cNvSpPr/>
          <p:nvPr/>
        </p:nvSpPr>
        <p:spPr>
          <a:xfrm>
            <a:off x="1463040" y="3794759"/>
            <a:ext cx="2468879" cy="777240"/>
          </a:xfrm>
          <a:prstGeom prst="roundRect">
            <a:avLst>
              <a:gd name="adj" fmla="val 10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l"/>
            <a:r>
              <a:rPr sz="1150" b="0">
                <a:solidFill>
                  <a:srgbClr val="3A3A3A"/>
                </a:solidFill>
                <a:latin typeface="Calibri"/>
              </a:rPr>
              <a:t>Draft a report that's ready for review</a:t>
            </a:r>
          </a:p>
        </p:txBody>
      </p:sp>
      <p:sp>
        <p:nvSpPr>
          <p:cNvPr id="37" name="Right Arrow 36"/>
          <p:cNvSpPr/>
          <p:nvPr/>
        </p:nvSpPr>
        <p:spPr>
          <a:xfrm>
            <a:off x="4069080" y="2587752"/>
            <a:ext cx="301752" cy="274320"/>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ight Arrow 37"/>
          <p:cNvSpPr/>
          <p:nvPr/>
        </p:nvSpPr>
        <p:spPr>
          <a:xfrm>
            <a:off x="7635240" y="2587752"/>
            <a:ext cx="301752" cy="274320"/>
          </a:xfrm>
          <a:prstGeom prst="righ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own Arrow 38"/>
          <p:cNvSpPr/>
          <p:nvPr/>
        </p:nvSpPr>
        <p:spPr>
          <a:xfrm>
            <a:off x="9427464" y="3246120"/>
            <a:ext cx="274320" cy="411480"/>
          </a:xfrm>
          <a:prstGeom prst="down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Left Arrow 39"/>
          <p:cNvSpPr/>
          <p:nvPr/>
        </p:nvSpPr>
        <p:spPr>
          <a:xfrm>
            <a:off x="7635240" y="4050791"/>
            <a:ext cx="301752" cy="274320"/>
          </a:xfrm>
          <a:prstGeom prst="lef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Left Arrow 40"/>
          <p:cNvSpPr/>
          <p:nvPr/>
        </p:nvSpPr>
        <p:spPr>
          <a:xfrm>
            <a:off x="4069080" y="4050791"/>
            <a:ext cx="301752" cy="274320"/>
          </a:xfrm>
          <a:prstGeom prst="leftArrow">
            <a:avLst>
              <a:gd name="adj1" fmla="val 55000"/>
              <a:gd name="adj2" fmla="val 4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PEOPLE</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Keeping people at the center</a:t>
            </a:r>
            <a:endParaRPr lang="en-US" sz="3700" dirty="0"/>
          </a:p>
        </p:txBody>
      </p:sp>
      <p:sp>
        <p:nvSpPr>
          <p:cNvPr id="4" name="Text 2"/>
          <p:cNvSpPr/>
          <p:nvPr/>
        </p:nvSpPr>
        <p:spPr>
          <a:xfrm>
            <a:off x="822960" y="2011680"/>
            <a:ext cx="6217920" cy="2194560"/>
          </a:xfrm>
          <a:prstGeom prst="rect">
            <a:avLst/>
          </a:prstGeom>
          <a:noFill/>
          <a:ln/>
        </p:spPr>
        <p:txBody>
          <a:bodyPr wrap="square" lIns="0" tIns="0" rIns="0" bIns="0" rtlCol="0" anchor="ctr"/>
          <a:lstStyle/>
          <a:p>
            <a:pPr marL="0" indent="0">
              <a:lnSpc>
                <a:spcPct val="130000"/>
              </a:lnSpc>
              <a:buNone/>
            </a:pPr>
            <a:r>
              <a:rPr lang="en-US" sz="2050" dirty="0">
                <a:solidFill>
                  <a:srgbClr val="3A3A3A"/>
                </a:solidFill>
                <a:latin typeface="Calibri" pitchFamily="34" charset="0"/>
                <a:ea typeface="Calibri" pitchFamily="34" charset="-122"/>
                <a:cs typeface="Calibri" pitchFamily="34" charset="-120"/>
              </a:rPr>
              <a:t>A consistent message from leadership was a human-first approach: the aim is to support people's work, not replace their judgment. In practice that means responsible use, real human oversight, transparency about what the system is doing, and earning trust over time.</a:t>
            </a:r>
            <a:endParaRPr lang="en-US" sz="2050" dirty="0"/>
          </a:p>
        </p:txBody>
      </p:sp>
      <p:sp>
        <p:nvSpPr>
          <p:cNvPr id="5" name="Text 3"/>
          <p:cNvSpPr/>
          <p:nvPr/>
        </p:nvSpPr>
        <p:spPr>
          <a:xfrm>
            <a:off x="822960" y="4434840"/>
            <a:ext cx="6217920" cy="1188720"/>
          </a:xfrm>
          <a:prstGeom prst="rect">
            <a:avLst/>
          </a:prstGeom>
          <a:noFill/>
          <a:ln/>
        </p:spPr>
        <p:txBody>
          <a:bodyPr wrap="square" lIns="0" tIns="0" rIns="0" bIns="0" rtlCol="0" anchor="ctr"/>
          <a:lstStyle/>
          <a:p>
            <a:pPr marL="0" indent="0">
              <a:lnSpc>
                <a:spcPct val="125000"/>
              </a:lnSpc>
              <a:buNone/>
            </a:pPr>
            <a:r>
              <a:rPr lang="en-US" sz="2050" b="1" dirty="0">
                <a:solidFill>
                  <a:srgbClr val="1F3551"/>
                </a:solidFill>
                <a:latin typeface="Calibri" pitchFamily="34" charset="0"/>
                <a:ea typeface="Calibri" pitchFamily="34" charset="-122"/>
                <a:cs typeface="Calibri" pitchFamily="34" charset="-120"/>
              </a:rPr>
              <a:t>The vision they returned to: </a:t>
            </a:r>
            <a:r>
              <a:rPr lang="en-US" sz="2050" i="1" dirty="0">
                <a:solidFill>
                  <a:srgbClr val="3A3A3A"/>
                </a:solidFill>
                <a:latin typeface="Calibri" pitchFamily="34" charset="0"/>
                <a:ea typeface="Calibri" pitchFamily="34" charset="-122"/>
                <a:cs typeface="Calibri" pitchFamily="34" charset="-120"/>
              </a:rPr>
              <a:t>AI as a collaborator that augments people, with a person kept in the loop on decisions.</a:t>
            </a:r>
            <a:endParaRPr lang="en-US" sz="2050" dirty="0"/>
          </a:p>
        </p:txBody>
      </p:sp>
      <p:sp>
        <p:nvSpPr>
          <p:cNvPr id="6" name="Shape 4"/>
          <p:cNvSpPr/>
          <p:nvPr/>
        </p:nvSpPr>
        <p:spPr>
          <a:xfrm>
            <a:off x="7498080" y="2011680"/>
            <a:ext cx="3840480" cy="3566160"/>
          </a:xfrm>
          <a:prstGeom prst="rect">
            <a:avLst/>
          </a:prstGeom>
          <a:solidFill>
            <a:srgbClr val="EDF1F6"/>
          </a:solidFill>
          <a:ln w="12700">
            <a:solidFill>
              <a:srgbClr val="D7DCE3"/>
            </a:solidFill>
            <a:prstDash val="dash"/>
          </a:ln>
        </p:spPr>
      </p:sp>
      <p:sp>
        <p:nvSpPr>
          <p:cNvPr id="7" name="Text 5"/>
          <p:cNvSpPr/>
          <p:nvPr/>
        </p:nvSpPr>
        <p:spPr>
          <a:xfrm>
            <a:off x="7498080" y="3611880"/>
            <a:ext cx="3840480" cy="365760"/>
          </a:xfrm>
          <a:prstGeom prst="rect">
            <a:avLst/>
          </a:prstGeom>
          <a:noFill/>
          <a:ln/>
        </p:spPr>
        <p:txBody>
          <a:bodyPr wrap="square" lIns="0" tIns="0" rIns="0" bIns="0" rtlCol="0" anchor="ctr"/>
          <a:lstStyle/>
          <a:p>
            <a:pPr marL="0" indent="0" algn="ctr">
              <a:buNone/>
            </a:pPr>
            <a:r>
              <a:rPr lang="en-US" sz="1450" i="1" dirty="0">
                <a:solidFill>
                  <a:srgbClr val="6B7280"/>
                </a:solidFill>
                <a:latin typeface="Calibri" pitchFamily="34" charset="0"/>
                <a:ea typeface="Calibri" pitchFamily="34" charset="-122"/>
                <a:cs typeface="Calibri" pitchFamily="34" charset="-120"/>
              </a:rPr>
              <a:t>Add a photo (e.g. people / team)</a:t>
            </a:r>
            <a:endParaRPr lang="en-US" sz="1450" dirty="0"/>
          </a:p>
        </p:txBody>
      </p:sp>
      <p:sp>
        <p:nvSpPr>
          <p:cNvPr id="8" name="Text 6"/>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9" name="Text 7"/>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15</a:t>
            </a:r>
            <a:endParaRPr lang="en-US" sz="115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PLANET</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The infrastructure behind it</a:t>
            </a:r>
            <a:endParaRPr lang="en-US" sz="3700" dirty="0"/>
          </a:p>
        </p:txBody>
      </p:sp>
      <p:sp>
        <p:nvSpPr>
          <p:cNvPr id="4" name="Text 2"/>
          <p:cNvSpPr/>
          <p:nvPr/>
        </p:nvSpPr>
        <p:spPr>
          <a:xfrm>
            <a:off x="822960" y="2011680"/>
            <a:ext cx="6126480" cy="1645920"/>
          </a:xfrm>
          <a:prstGeom prst="rect">
            <a:avLst/>
          </a:prstGeom>
          <a:noFill/>
          <a:ln/>
        </p:spPr>
        <p:txBody>
          <a:bodyPr wrap="square" lIns="0" tIns="0" rIns="0" bIns="0" rtlCol="0" anchor="ctr"/>
          <a:lstStyle/>
          <a:p>
            <a:pPr marL="0" indent="0">
              <a:lnSpc>
                <a:spcPct val="130000"/>
              </a:lnSpc>
              <a:buNone/>
            </a:pPr>
            <a:r>
              <a:rPr lang="en-US" sz="2050" dirty="0">
                <a:solidFill>
                  <a:srgbClr val="3A3A3A"/>
                </a:solidFill>
                <a:latin typeface="Calibri" pitchFamily="34" charset="0"/>
                <a:ea typeface="Calibri" pitchFamily="34" charset="-122"/>
                <a:cs typeface="Calibri" pitchFamily="34" charset="-120"/>
              </a:rPr>
              <a:t>Microsoft also spoke about sustainability — reducing water and energy use and environmental impact, including new approaches to cooling and datacenter design.</a:t>
            </a:r>
            <a:endParaRPr lang="en-US" sz="2050" dirty="0"/>
          </a:p>
        </p:txBody>
      </p:sp>
      <p:sp>
        <p:nvSpPr>
          <p:cNvPr id="5" name="Text 3"/>
          <p:cNvSpPr/>
          <p:nvPr/>
        </p:nvSpPr>
        <p:spPr>
          <a:xfrm>
            <a:off x="822960" y="3611880"/>
            <a:ext cx="6126480" cy="1097280"/>
          </a:xfrm>
          <a:prstGeom prst="rect">
            <a:avLst/>
          </a:prstGeom>
          <a:noFill/>
          <a:ln/>
        </p:spPr>
        <p:txBody>
          <a:bodyPr wrap="square" lIns="0" tIns="0" rIns="0" bIns="0" rtlCol="0" anchor="ctr"/>
          <a:lstStyle/>
          <a:p>
            <a:pPr marL="0" indent="0">
              <a:lnSpc>
                <a:spcPct val="125000"/>
              </a:lnSpc>
              <a:buNone/>
            </a:pPr>
            <a:r>
              <a:rPr lang="en-US" sz="1900" i="1" dirty="0">
                <a:solidFill>
                  <a:srgbClr val="3A3A3A"/>
                </a:solidFill>
                <a:latin typeface="Calibri" pitchFamily="34" charset="0"/>
                <a:ea typeface="Calibri" pitchFamily="34" charset="-122"/>
                <a:cs typeface="Calibri" pitchFamily="34" charset="-120"/>
              </a:rPr>
              <a:t>A worthwhile takeaway is that building AI at this scale now draws on many fields working together, not software alone:</a:t>
            </a:r>
            <a:endParaRPr lang="en-US" sz="1900" dirty="0"/>
          </a:p>
        </p:txBody>
      </p:sp>
      <p:sp>
        <p:nvSpPr>
          <p:cNvPr id="6" name="Text 4"/>
          <p:cNvSpPr/>
          <p:nvPr/>
        </p:nvSpPr>
        <p:spPr>
          <a:xfrm>
            <a:off x="822960" y="4709160"/>
            <a:ext cx="6126480" cy="1280160"/>
          </a:xfrm>
          <a:prstGeom prst="rect">
            <a:avLst/>
          </a:prstGeom>
          <a:noFill/>
          <a:ln/>
        </p:spPr>
        <p:txBody>
          <a:bodyPr wrap="square" lIns="0" tIns="0" rIns="0" bIns="0" rtlCol="0" anchor="t"/>
          <a:lstStyle/>
          <a:p>
            <a:pPr marL="203200" indent="-203200">
              <a:spcAft>
                <a:spcPts val="800"/>
              </a:spcAft>
              <a:buSzPct val="100000"/>
              <a:buChar char="–"/>
            </a:pPr>
            <a:r>
              <a:rPr lang="en-US" sz="1850" dirty="0">
                <a:solidFill>
                  <a:srgbClr val="3A3A3A"/>
                </a:solidFill>
                <a:latin typeface="Calibri" pitchFamily="34" charset="0"/>
                <a:ea typeface="Calibri" pitchFamily="34" charset="-122"/>
                <a:cs typeface="Calibri" pitchFamily="34" charset="-120"/>
              </a:rPr>
              <a:t>Software, hardware and electrical engineering</a:t>
            </a:r>
            <a:endParaRPr lang="en-US" sz="1850" dirty="0"/>
          </a:p>
          <a:p>
            <a:pPr marL="203200" indent="-203200">
              <a:spcAft>
                <a:spcPts val="800"/>
              </a:spcAft>
              <a:buSzPct val="100000"/>
              <a:buChar char="–"/>
            </a:pPr>
            <a:r>
              <a:rPr lang="en-US" sz="1850" dirty="0">
                <a:solidFill>
                  <a:srgbClr val="3A3A3A"/>
                </a:solidFill>
                <a:latin typeface="Calibri" pitchFamily="34" charset="0"/>
                <a:ea typeface="Calibri" pitchFamily="34" charset="-122"/>
                <a:cs typeface="Calibri" pitchFamily="34" charset="-120"/>
              </a:rPr>
              <a:t>Mechanical engineering and materials science</a:t>
            </a:r>
            <a:endParaRPr lang="en-US" sz="1850" dirty="0"/>
          </a:p>
          <a:p>
            <a:pPr marL="203200" indent="-203200">
              <a:buSzPct val="100000"/>
              <a:buChar char="–"/>
            </a:pPr>
            <a:r>
              <a:rPr lang="en-US" sz="1850" dirty="0">
                <a:solidFill>
                  <a:srgbClr val="3A3A3A"/>
                </a:solidFill>
                <a:latin typeface="Calibri" pitchFamily="34" charset="0"/>
                <a:ea typeface="Calibri" pitchFamily="34" charset="-122"/>
                <a:cs typeface="Calibri" pitchFamily="34" charset="-120"/>
              </a:rPr>
              <a:t>Chemistry and environmental specialists</a:t>
            </a:r>
            <a:endParaRPr lang="en-US" sz="1850" dirty="0"/>
          </a:p>
        </p:txBody>
      </p:sp>
      <p:sp>
        <p:nvSpPr>
          <p:cNvPr id="7" name="Shape 5"/>
          <p:cNvSpPr/>
          <p:nvPr/>
        </p:nvSpPr>
        <p:spPr>
          <a:xfrm>
            <a:off x="7498080" y="2011680"/>
            <a:ext cx="3840480" cy="3566160"/>
          </a:xfrm>
          <a:prstGeom prst="rect">
            <a:avLst/>
          </a:prstGeom>
          <a:solidFill>
            <a:srgbClr val="EDF1F6"/>
          </a:solidFill>
          <a:ln w="12700">
            <a:solidFill>
              <a:srgbClr val="D7DCE3"/>
            </a:solidFill>
            <a:prstDash val="dash"/>
          </a:ln>
        </p:spPr>
      </p:sp>
      <p:sp>
        <p:nvSpPr>
          <p:cNvPr id="8" name="Text 6"/>
          <p:cNvSpPr/>
          <p:nvPr/>
        </p:nvSpPr>
        <p:spPr>
          <a:xfrm>
            <a:off x="7498080" y="3611880"/>
            <a:ext cx="3840480" cy="365760"/>
          </a:xfrm>
          <a:prstGeom prst="rect">
            <a:avLst/>
          </a:prstGeom>
          <a:noFill/>
          <a:ln/>
        </p:spPr>
        <p:txBody>
          <a:bodyPr wrap="square" lIns="0" tIns="0" rIns="0" bIns="0" rtlCol="0" anchor="ctr"/>
          <a:lstStyle/>
          <a:p>
            <a:pPr marL="0" indent="0" algn="ctr">
              <a:buNone/>
            </a:pPr>
            <a:r>
              <a:rPr lang="en-US" sz="1450" i="1" dirty="0">
                <a:solidFill>
                  <a:srgbClr val="6B7280"/>
                </a:solidFill>
                <a:latin typeface="Calibri" pitchFamily="34" charset="0"/>
                <a:ea typeface="Calibri" pitchFamily="34" charset="-122"/>
                <a:cs typeface="Calibri" pitchFamily="34" charset="-120"/>
              </a:rPr>
              <a:t>Add a photo (e.g. datacenter / nature)</a:t>
            </a:r>
            <a:endParaRPr lang="en-US" sz="1450" dirty="0"/>
          </a:p>
        </p:txBody>
      </p:sp>
      <p:sp>
        <p:nvSpPr>
          <p:cNvPr id="9" name="Text 7"/>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0" name="Text 8"/>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16</a:t>
            </a:r>
            <a:endParaRPr lang="en-US" sz="115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WHAT THIS MEANS FOR US</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Opportunities for </a:t>
            </a:r>
            <a:r>
              <a:rPr lang="en-US" sz="3700" b="1" dirty="0" smtClean="0">
                <a:solidFill>
                  <a:srgbClr val="1F3551"/>
                </a:solidFill>
                <a:latin typeface="Calibri" pitchFamily="34" charset="0"/>
                <a:ea typeface="Calibri" pitchFamily="34" charset="-122"/>
                <a:cs typeface="Calibri" pitchFamily="34" charset="-120"/>
              </a:rPr>
              <a:t>App Development</a:t>
            </a:r>
            <a:endParaRPr lang="en-US" sz="3700" dirty="0"/>
          </a:p>
        </p:txBody>
      </p:sp>
      <p:sp>
        <p:nvSpPr>
          <p:cNvPr id="4" name="Text 2"/>
          <p:cNvSpPr/>
          <p:nvPr/>
        </p:nvSpPr>
        <p:spPr>
          <a:xfrm>
            <a:off x="822960" y="2011680"/>
            <a:ext cx="5029200" cy="45720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Reporting in plain language</a:t>
            </a:r>
            <a:endParaRPr lang="en-US" sz="2300" dirty="0"/>
          </a:p>
        </p:txBody>
      </p:sp>
      <p:sp>
        <p:nvSpPr>
          <p:cNvPr id="5" name="Shape 3"/>
          <p:cNvSpPr/>
          <p:nvPr/>
        </p:nvSpPr>
        <p:spPr>
          <a:xfrm>
            <a:off x="822960" y="2487168"/>
            <a:ext cx="457200" cy="36576"/>
          </a:xfrm>
          <a:prstGeom prst="rect">
            <a:avLst/>
          </a:prstGeom>
          <a:solidFill>
            <a:srgbClr val="0078D4"/>
          </a:solidFill>
          <a:ln/>
        </p:spPr>
      </p:sp>
      <p:sp>
        <p:nvSpPr>
          <p:cNvPr id="6" name="Text 4"/>
          <p:cNvSpPr/>
          <p:nvPr/>
        </p:nvSpPr>
        <p:spPr>
          <a:xfrm>
            <a:off x="822960" y="2651760"/>
            <a:ext cx="5029200" cy="1188720"/>
          </a:xfrm>
          <a:prstGeom prst="rect">
            <a:avLst/>
          </a:prstGeom>
          <a:noFill/>
          <a:ln/>
        </p:spPr>
        <p:txBody>
          <a:bodyPr wrap="square" lIns="0" tIns="0" rIns="0" bIns="0" rtlCol="0" anchor="ctr"/>
          <a:lstStyle/>
          <a:p>
            <a:pPr marL="0" indent="0">
              <a:lnSpc>
                <a:spcPct val="120000"/>
              </a:lnSpc>
              <a:buNone/>
            </a:pPr>
            <a:r>
              <a:rPr lang="en-US" sz="1850" dirty="0">
                <a:solidFill>
                  <a:srgbClr val="3A3A3A"/>
                </a:solidFill>
                <a:latin typeface="Calibri" pitchFamily="34" charset="0"/>
                <a:ea typeface="Calibri" pitchFamily="34" charset="-122"/>
                <a:cs typeface="Calibri" pitchFamily="34" charset="-120"/>
              </a:rPr>
              <a:t>Someone could ask, “Show loans funded this month by originator,” and get a report back without writing a query.</a:t>
            </a:r>
            <a:endParaRPr lang="en-US" sz="1850" dirty="0"/>
          </a:p>
        </p:txBody>
      </p:sp>
      <p:sp>
        <p:nvSpPr>
          <p:cNvPr id="7" name="Text 5"/>
          <p:cNvSpPr/>
          <p:nvPr/>
        </p:nvSpPr>
        <p:spPr>
          <a:xfrm>
            <a:off x="6400800" y="2011680"/>
            <a:ext cx="5029200" cy="45720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Help with SQL and analysis</a:t>
            </a:r>
            <a:endParaRPr lang="en-US" sz="2300" dirty="0"/>
          </a:p>
        </p:txBody>
      </p:sp>
      <p:sp>
        <p:nvSpPr>
          <p:cNvPr id="8" name="Shape 6"/>
          <p:cNvSpPr/>
          <p:nvPr/>
        </p:nvSpPr>
        <p:spPr>
          <a:xfrm>
            <a:off x="6400800" y="2487168"/>
            <a:ext cx="457200" cy="36576"/>
          </a:xfrm>
          <a:prstGeom prst="rect">
            <a:avLst/>
          </a:prstGeom>
          <a:solidFill>
            <a:srgbClr val="0078D4"/>
          </a:solidFill>
          <a:ln/>
        </p:spPr>
      </p:sp>
      <p:sp>
        <p:nvSpPr>
          <p:cNvPr id="9" name="Text 7"/>
          <p:cNvSpPr/>
          <p:nvPr/>
        </p:nvSpPr>
        <p:spPr>
          <a:xfrm>
            <a:off x="6400800" y="2651760"/>
            <a:ext cx="5029200" cy="1188720"/>
          </a:xfrm>
          <a:prstGeom prst="rect">
            <a:avLst/>
          </a:prstGeom>
          <a:noFill/>
          <a:ln/>
        </p:spPr>
        <p:txBody>
          <a:bodyPr wrap="square" lIns="0" tIns="0" rIns="0" bIns="0" rtlCol="0" anchor="ctr"/>
          <a:lstStyle/>
          <a:p>
            <a:pPr marL="0" indent="0">
              <a:lnSpc>
                <a:spcPct val="120000"/>
              </a:lnSpc>
              <a:buNone/>
            </a:pPr>
            <a:r>
              <a:rPr lang="en-US" sz="1850" dirty="0">
                <a:solidFill>
                  <a:srgbClr val="3A3A3A"/>
                </a:solidFill>
                <a:latin typeface="Calibri" pitchFamily="34" charset="0"/>
                <a:ea typeface="Calibri" pitchFamily="34" charset="-122"/>
                <a:cs typeface="Calibri" pitchFamily="34" charset="-120"/>
              </a:rPr>
              <a:t>Explaining queries, suggesting improvements, drafting report logic, and looking into performance issues.</a:t>
            </a:r>
            <a:endParaRPr lang="en-US" sz="1850" dirty="0"/>
          </a:p>
        </p:txBody>
      </p:sp>
      <p:sp>
        <p:nvSpPr>
          <p:cNvPr id="10" name="Text 8"/>
          <p:cNvSpPr/>
          <p:nvPr/>
        </p:nvSpPr>
        <p:spPr>
          <a:xfrm>
            <a:off x="822960" y="4069080"/>
            <a:ext cx="5029200" cy="45720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Finding information</a:t>
            </a:r>
            <a:endParaRPr lang="en-US" sz="2300" dirty="0"/>
          </a:p>
        </p:txBody>
      </p:sp>
      <p:sp>
        <p:nvSpPr>
          <p:cNvPr id="11" name="Shape 9"/>
          <p:cNvSpPr/>
          <p:nvPr/>
        </p:nvSpPr>
        <p:spPr>
          <a:xfrm>
            <a:off x="822960" y="4544568"/>
            <a:ext cx="457200" cy="36576"/>
          </a:xfrm>
          <a:prstGeom prst="rect">
            <a:avLst/>
          </a:prstGeom>
          <a:solidFill>
            <a:srgbClr val="0078D4"/>
          </a:solidFill>
          <a:ln/>
        </p:spPr>
      </p:sp>
      <p:sp>
        <p:nvSpPr>
          <p:cNvPr id="12" name="Text 10"/>
          <p:cNvSpPr/>
          <p:nvPr/>
        </p:nvSpPr>
        <p:spPr>
          <a:xfrm>
            <a:off x="822960" y="4709160"/>
            <a:ext cx="5029200" cy="1188720"/>
          </a:xfrm>
          <a:prstGeom prst="rect">
            <a:avLst/>
          </a:prstGeom>
          <a:noFill/>
          <a:ln/>
        </p:spPr>
        <p:txBody>
          <a:bodyPr wrap="square" lIns="0" tIns="0" rIns="0" bIns="0" rtlCol="0" anchor="ctr"/>
          <a:lstStyle/>
          <a:p>
            <a:pPr marL="0" indent="0">
              <a:lnSpc>
                <a:spcPct val="120000"/>
              </a:lnSpc>
              <a:buNone/>
            </a:pPr>
            <a:r>
              <a:rPr lang="en-US" sz="1850" dirty="0">
                <a:solidFill>
                  <a:srgbClr val="3A3A3A"/>
                </a:solidFill>
                <a:latin typeface="Calibri" pitchFamily="34" charset="0"/>
                <a:ea typeface="Calibri" pitchFamily="34" charset="-122"/>
                <a:cs typeface="Calibri" pitchFamily="34" charset="-120"/>
              </a:rPr>
              <a:t>Locating answers across our databases, documentation, policies, and procedures.</a:t>
            </a:r>
            <a:endParaRPr lang="en-US" sz="1850" dirty="0"/>
          </a:p>
        </p:txBody>
      </p:sp>
      <p:sp>
        <p:nvSpPr>
          <p:cNvPr id="13" name="Text 11"/>
          <p:cNvSpPr/>
          <p:nvPr/>
        </p:nvSpPr>
        <p:spPr>
          <a:xfrm>
            <a:off x="6400800" y="4069080"/>
            <a:ext cx="5029200" cy="45720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Assisting routine work</a:t>
            </a:r>
            <a:endParaRPr lang="en-US" sz="2300" dirty="0"/>
          </a:p>
        </p:txBody>
      </p:sp>
      <p:sp>
        <p:nvSpPr>
          <p:cNvPr id="14" name="Shape 12"/>
          <p:cNvSpPr/>
          <p:nvPr/>
        </p:nvSpPr>
        <p:spPr>
          <a:xfrm>
            <a:off x="6400800" y="4544568"/>
            <a:ext cx="457200" cy="36576"/>
          </a:xfrm>
          <a:prstGeom prst="rect">
            <a:avLst/>
          </a:prstGeom>
          <a:solidFill>
            <a:srgbClr val="0078D4"/>
          </a:solidFill>
          <a:ln/>
        </p:spPr>
      </p:sp>
      <p:sp>
        <p:nvSpPr>
          <p:cNvPr id="15" name="Text 13"/>
          <p:cNvSpPr/>
          <p:nvPr/>
        </p:nvSpPr>
        <p:spPr>
          <a:xfrm>
            <a:off x="6400800" y="4709160"/>
            <a:ext cx="5029200" cy="1188720"/>
          </a:xfrm>
          <a:prstGeom prst="rect">
            <a:avLst/>
          </a:prstGeom>
          <a:noFill/>
          <a:ln/>
        </p:spPr>
        <p:txBody>
          <a:bodyPr wrap="square" lIns="0" tIns="0" rIns="0" bIns="0" rtlCol="0" anchor="ctr"/>
          <a:lstStyle/>
          <a:p>
            <a:pPr marL="0" indent="0">
              <a:lnSpc>
                <a:spcPct val="120000"/>
              </a:lnSpc>
              <a:buNone/>
            </a:pPr>
            <a:r>
              <a:rPr lang="en-US" sz="1850" dirty="0">
                <a:solidFill>
                  <a:srgbClr val="3A3A3A"/>
                </a:solidFill>
                <a:latin typeface="Calibri" pitchFamily="34" charset="0"/>
                <a:ea typeface="Calibri" pitchFamily="34" charset="-122"/>
                <a:cs typeface="Calibri" pitchFamily="34" charset="-120"/>
              </a:rPr>
              <a:t>Looking into reconciliation differences, drafting operational summaries, watching data quality, and helping prepare for audits.</a:t>
            </a:r>
            <a:endParaRPr lang="en-US" sz="1850" dirty="0"/>
          </a:p>
        </p:txBody>
      </p:sp>
      <p:sp>
        <p:nvSpPr>
          <p:cNvPr id="16" name="Text 14"/>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7" name="Text 15"/>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17</a:t>
            </a:r>
            <a:endParaRPr lang="en-US" sz="115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A BALANCED VIEW</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a:solidFill>
                  <a:srgbClr val="1F3551"/>
                </a:solidFill>
                <a:latin typeface="Calibri" pitchFamily="34" charset="0"/>
                <a:ea typeface="Calibri" pitchFamily="34" charset="-122"/>
                <a:cs typeface="Calibri" pitchFamily="34" charset="-120"/>
              </a:rPr>
              <a:t>Opportunities and things to weigh</a:t>
            </a:r>
            <a:endParaRPr lang="en-US" sz="3700" dirty="0"/>
          </a:p>
        </p:txBody>
      </p:sp>
      <p:sp>
        <p:nvSpPr>
          <p:cNvPr id="4" name="Text 2"/>
          <p:cNvSpPr/>
          <p:nvPr/>
        </p:nvSpPr>
        <p:spPr>
          <a:xfrm>
            <a:off x="822960" y="2011680"/>
            <a:ext cx="493776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Opportunities</a:t>
            </a:r>
            <a:endParaRPr lang="en-US" sz="2300" dirty="0"/>
          </a:p>
        </p:txBody>
      </p:sp>
      <p:sp>
        <p:nvSpPr>
          <p:cNvPr id="5" name="Text 3"/>
          <p:cNvSpPr/>
          <p:nvPr/>
        </p:nvSpPr>
        <p:spPr>
          <a:xfrm>
            <a:off x="822960" y="2560320"/>
            <a:ext cx="4937760" cy="2743200"/>
          </a:xfrm>
          <a:prstGeom prst="rect">
            <a:avLst/>
          </a:prstGeom>
          <a:noFill/>
          <a:ln/>
        </p:spPr>
        <p:txBody>
          <a:bodyPr wrap="square" lIns="0" tIns="0" rIns="0" bIns="0" rtlCol="0" anchor="t"/>
          <a:lstStyle/>
          <a:p>
            <a:pPr marL="203200" indent="-203200">
              <a:spcAft>
                <a:spcPts val="1200"/>
              </a:spcAft>
              <a:buSzPct val="100000"/>
              <a:buChar char="–"/>
            </a:pPr>
            <a:r>
              <a:rPr lang="en-US" sz="2000" dirty="0">
                <a:solidFill>
                  <a:srgbClr val="3A3A3A"/>
                </a:solidFill>
                <a:latin typeface="Calibri" pitchFamily="34" charset="0"/>
                <a:ea typeface="Calibri" pitchFamily="34" charset="-122"/>
                <a:cs typeface="Calibri" pitchFamily="34" charset="-120"/>
              </a:rPr>
              <a:t>Meaningful gains in productivity</a:t>
            </a:r>
            <a:endParaRPr lang="en-US" sz="2000" dirty="0"/>
          </a:p>
          <a:p>
            <a:pPr marL="203200" indent="-203200">
              <a:spcAft>
                <a:spcPts val="1200"/>
              </a:spcAft>
              <a:buSzPct val="100000"/>
              <a:buChar char="–"/>
            </a:pPr>
            <a:r>
              <a:rPr lang="en-US" sz="2000" dirty="0">
                <a:solidFill>
                  <a:srgbClr val="3A3A3A"/>
                </a:solidFill>
                <a:latin typeface="Calibri" pitchFamily="34" charset="0"/>
                <a:ea typeface="Calibri" pitchFamily="34" charset="-122"/>
                <a:cs typeface="Calibri" pitchFamily="34" charset="-120"/>
              </a:rPr>
              <a:t>Routine work that can be automated</a:t>
            </a:r>
            <a:endParaRPr lang="en-US" sz="2000" dirty="0"/>
          </a:p>
          <a:p>
            <a:pPr marL="203200" indent="-203200">
              <a:spcAft>
                <a:spcPts val="1200"/>
              </a:spcAft>
              <a:buSzPct val="100000"/>
              <a:buChar char="–"/>
            </a:pPr>
            <a:r>
              <a:rPr lang="en-US" sz="2000" dirty="0">
                <a:solidFill>
                  <a:srgbClr val="3A3A3A"/>
                </a:solidFill>
                <a:latin typeface="Calibri" pitchFamily="34" charset="0"/>
                <a:ea typeface="Calibri" pitchFamily="34" charset="-122"/>
                <a:cs typeface="Calibri" pitchFamily="34" charset="-120"/>
              </a:rPr>
              <a:t>Enterprise data that's easier to reach</a:t>
            </a:r>
            <a:endParaRPr lang="en-US" sz="2000" dirty="0"/>
          </a:p>
          <a:p>
            <a:pPr marL="203200" indent="-203200">
              <a:buSzPct val="100000"/>
              <a:buChar char="–"/>
            </a:pPr>
            <a:r>
              <a:rPr lang="en-US" sz="2000" dirty="0">
                <a:solidFill>
                  <a:srgbClr val="3A3A3A"/>
                </a:solidFill>
                <a:latin typeface="Calibri" pitchFamily="34" charset="0"/>
                <a:ea typeface="Calibri" pitchFamily="34" charset="-122"/>
                <a:cs typeface="Calibri" pitchFamily="34" charset="-120"/>
              </a:rPr>
              <a:t>Faster reporting and analysis</a:t>
            </a:r>
            <a:endParaRPr lang="en-US" sz="2000" dirty="0"/>
          </a:p>
        </p:txBody>
      </p:sp>
      <p:sp>
        <p:nvSpPr>
          <p:cNvPr id="6" name="Text 4"/>
          <p:cNvSpPr/>
          <p:nvPr/>
        </p:nvSpPr>
        <p:spPr>
          <a:xfrm>
            <a:off x="6400800" y="2011680"/>
            <a:ext cx="4937760" cy="411480"/>
          </a:xfrm>
          <a:prstGeom prst="rect">
            <a:avLst/>
          </a:prstGeom>
          <a:noFill/>
          <a:ln/>
        </p:spPr>
        <p:txBody>
          <a:bodyPr wrap="square" lIns="0" tIns="0" rIns="0" bIns="0" rtlCol="0" anchor="ctr"/>
          <a:lstStyle/>
          <a:p>
            <a:pPr marL="0" indent="0">
              <a:buNone/>
            </a:pPr>
            <a:r>
              <a:rPr lang="en-US" sz="2300" b="1" dirty="0">
                <a:solidFill>
                  <a:srgbClr val="1F3551"/>
                </a:solidFill>
                <a:latin typeface="Calibri" pitchFamily="34" charset="0"/>
                <a:ea typeface="Calibri" pitchFamily="34" charset="-122"/>
                <a:cs typeface="Calibri" pitchFamily="34" charset="-120"/>
              </a:rPr>
              <a:t>Things to weigh</a:t>
            </a:r>
            <a:endParaRPr lang="en-US" sz="2300" dirty="0"/>
          </a:p>
        </p:txBody>
      </p:sp>
      <p:sp>
        <p:nvSpPr>
          <p:cNvPr id="7" name="Text 5"/>
          <p:cNvSpPr/>
          <p:nvPr/>
        </p:nvSpPr>
        <p:spPr>
          <a:xfrm>
            <a:off x="6400800" y="2560320"/>
            <a:ext cx="4937760" cy="2926080"/>
          </a:xfrm>
          <a:prstGeom prst="rect">
            <a:avLst/>
          </a:prstGeom>
          <a:noFill/>
          <a:ln/>
        </p:spPr>
        <p:txBody>
          <a:bodyPr wrap="square" lIns="0" tIns="0" rIns="0" bIns="0" rtlCol="0" anchor="t"/>
          <a:lstStyle/>
          <a:p>
            <a:pPr marL="203200" indent="-203200">
              <a:spcAft>
                <a:spcPts val="1000"/>
              </a:spcAft>
              <a:buSzPct val="100000"/>
              <a:buChar char="–"/>
            </a:pPr>
            <a:r>
              <a:rPr lang="en-US" sz="2000" dirty="0">
                <a:solidFill>
                  <a:srgbClr val="3A3A3A"/>
                </a:solidFill>
                <a:latin typeface="Calibri" pitchFamily="34" charset="0"/>
                <a:ea typeface="Calibri" pitchFamily="34" charset="-122"/>
                <a:cs typeface="Calibri" pitchFamily="34" charset="-120"/>
              </a:rPr>
              <a:t>Keeping costs in check at scale</a:t>
            </a:r>
            <a:endParaRPr lang="en-US" sz="2000" dirty="0"/>
          </a:p>
          <a:p>
            <a:pPr marL="203200" indent="-203200">
              <a:spcAft>
                <a:spcPts val="1000"/>
              </a:spcAft>
              <a:buSzPct val="100000"/>
              <a:buChar char="–"/>
            </a:pPr>
            <a:r>
              <a:rPr lang="en-US" sz="2000" dirty="0">
                <a:solidFill>
                  <a:srgbClr val="3A3A3A"/>
                </a:solidFill>
                <a:latin typeface="Calibri" pitchFamily="34" charset="0"/>
                <a:ea typeface="Calibri" pitchFamily="34" charset="-122"/>
                <a:cs typeface="Calibri" pitchFamily="34" charset="-120"/>
              </a:rPr>
              <a:t>Keeping people reviewing the output</a:t>
            </a:r>
            <a:endParaRPr lang="en-US" sz="2000" dirty="0"/>
          </a:p>
          <a:p>
            <a:pPr marL="203200" indent="-203200">
              <a:spcAft>
                <a:spcPts val="1000"/>
              </a:spcAft>
              <a:buSzPct val="100000"/>
              <a:buChar char="–"/>
            </a:pPr>
            <a:r>
              <a:rPr lang="en-US" sz="2000" dirty="0">
                <a:solidFill>
                  <a:srgbClr val="3A3A3A"/>
                </a:solidFill>
                <a:latin typeface="Calibri" pitchFamily="34" charset="0"/>
                <a:ea typeface="Calibri" pitchFamily="34" charset="-122"/>
                <a:cs typeface="Calibri" pitchFamily="34" charset="-120"/>
              </a:rPr>
              <a:t>Keeping important knowledge in-house</a:t>
            </a:r>
            <a:endParaRPr lang="en-US" sz="2000" dirty="0"/>
          </a:p>
          <a:p>
            <a:pPr marL="203200" indent="-203200">
              <a:spcAft>
                <a:spcPts val="1000"/>
              </a:spcAft>
              <a:buSzPct val="100000"/>
              <a:buChar char="–"/>
            </a:pPr>
            <a:r>
              <a:rPr lang="en-US" sz="2000" dirty="0">
                <a:solidFill>
                  <a:srgbClr val="3A3A3A"/>
                </a:solidFill>
                <a:latin typeface="Calibri" pitchFamily="34" charset="0"/>
                <a:ea typeface="Calibri" pitchFamily="34" charset="-122"/>
                <a:cs typeface="Calibri" pitchFamily="34" charset="-120"/>
              </a:rPr>
              <a:t>Not leaning on AI for code and decisions uncritically</a:t>
            </a:r>
            <a:endParaRPr lang="en-US" sz="2000" dirty="0"/>
          </a:p>
          <a:p>
            <a:pPr marL="203200" indent="-203200">
              <a:buSzPct val="100000"/>
              <a:buChar char="–"/>
            </a:pPr>
            <a:r>
              <a:rPr lang="en-US" sz="2000" dirty="0">
                <a:solidFill>
                  <a:srgbClr val="3A3A3A"/>
                </a:solidFill>
                <a:latin typeface="Calibri" pitchFamily="34" charset="0"/>
                <a:ea typeface="Calibri" pitchFamily="34" charset="-122"/>
                <a:cs typeface="Calibri" pitchFamily="34" charset="-120"/>
              </a:rPr>
              <a:t>Clear approval and governance for agents</a:t>
            </a:r>
            <a:endParaRPr lang="en-US" sz="2000" dirty="0"/>
          </a:p>
        </p:txBody>
      </p:sp>
      <p:sp>
        <p:nvSpPr>
          <p:cNvPr id="8" name="Text 6"/>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9" name="Text 7"/>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18</a:t>
            </a:r>
            <a:endParaRPr lang="en-US" sz="115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457200"/>
            <a:ext cx="10545775" cy="274320"/>
          </a:xfrm>
          <a:prstGeom prst="rect">
            <a:avLst/>
          </a:prstGeom>
          <a:noFill/>
          <a:ln/>
        </p:spPr>
        <p:txBody>
          <a:bodyPr wrap="square" lIns="0" tIns="0" rIns="0" bIns="0" rtlCol="0" anchor="ctr"/>
          <a:lstStyle/>
          <a:p>
            <a:pPr marL="0" indent="0">
              <a:buNone/>
            </a:pPr>
            <a:r>
              <a:rPr lang="en-US" sz="1450" b="1" kern="0" spc="250" dirty="0">
                <a:solidFill>
                  <a:srgbClr val="0078D4"/>
                </a:solidFill>
                <a:latin typeface="Calibri" pitchFamily="34" charset="0"/>
                <a:ea typeface="Calibri" pitchFamily="34" charset="-122"/>
                <a:cs typeface="Calibri" pitchFamily="34" charset="-120"/>
              </a:rPr>
              <a:t>THE TAKEAWAY</a:t>
            </a:r>
            <a:endParaRPr lang="en-US" sz="1450" dirty="0"/>
          </a:p>
        </p:txBody>
      </p:sp>
      <p:sp>
        <p:nvSpPr>
          <p:cNvPr id="3"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smtClean="0">
                <a:solidFill>
                  <a:srgbClr val="1F3551"/>
                </a:solidFill>
                <a:latin typeface="Calibri" pitchFamily="34" charset="0"/>
                <a:ea typeface="Calibri" pitchFamily="34" charset="-122"/>
                <a:cs typeface="Calibri" pitchFamily="34" charset="-120"/>
              </a:rPr>
              <a:t>Things </a:t>
            </a:r>
            <a:r>
              <a:rPr lang="en-US" sz="3700" b="1" dirty="0">
                <a:solidFill>
                  <a:srgbClr val="1F3551"/>
                </a:solidFill>
                <a:latin typeface="Calibri" pitchFamily="34" charset="0"/>
                <a:ea typeface="Calibri" pitchFamily="34" charset="-122"/>
                <a:cs typeface="Calibri" pitchFamily="34" charset="-120"/>
              </a:rPr>
              <a:t>to remember</a:t>
            </a:r>
            <a:endParaRPr lang="en-US" sz="3700" dirty="0"/>
          </a:p>
        </p:txBody>
      </p:sp>
      <p:sp>
        <p:nvSpPr>
          <p:cNvPr id="4" name="Text 2"/>
          <p:cNvSpPr/>
          <p:nvPr/>
        </p:nvSpPr>
        <p:spPr>
          <a:xfrm>
            <a:off x="822960" y="1920240"/>
            <a:ext cx="548640" cy="640080"/>
          </a:xfrm>
          <a:prstGeom prst="rect">
            <a:avLst/>
          </a:prstGeom>
          <a:noFill/>
          <a:ln/>
        </p:spPr>
        <p:txBody>
          <a:bodyPr wrap="square" lIns="0" tIns="0" rIns="0" bIns="0" rtlCol="0" anchor="ctr"/>
          <a:lstStyle/>
          <a:p>
            <a:pPr marL="0" indent="0">
              <a:buNone/>
            </a:pPr>
            <a:r>
              <a:rPr lang="en-US" sz="3600" b="1" dirty="0">
                <a:solidFill>
                  <a:srgbClr val="0078D4"/>
                </a:solidFill>
                <a:latin typeface="Calibri" pitchFamily="34" charset="0"/>
                <a:ea typeface="Calibri" pitchFamily="34" charset="-122"/>
                <a:cs typeface="Calibri" pitchFamily="34" charset="-120"/>
              </a:rPr>
              <a:t>1</a:t>
            </a:r>
            <a:endParaRPr lang="en-US" sz="3600" dirty="0"/>
          </a:p>
        </p:txBody>
      </p:sp>
      <p:sp>
        <p:nvSpPr>
          <p:cNvPr id="5" name="Text 3"/>
          <p:cNvSpPr/>
          <p:nvPr/>
        </p:nvSpPr>
        <p:spPr>
          <a:xfrm>
            <a:off x="1508760" y="1901952"/>
            <a:ext cx="9692640" cy="411480"/>
          </a:xfrm>
          <a:prstGeom prst="rect">
            <a:avLst/>
          </a:prstGeom>
          <a:noFill/>
          <a:ln/>
        </p:spPr>
        <p:txBody>
          <a:bodyPr wrap="square" lIns="0" tIns="0" rIns="0" bIns="0" rtlCol="0" anchor="ctr"/>
          <a:lstStyle/>
          <a:p>
            <a:pPr marL="0" indent="0">
              <a:buNone/>
            </a:pPr>
            <a:r>
              <a:rPr lang="en-US" sz="2450" b="1" dirty="0">
                <a:solidFill>
                  <a:srgbClr val="1F3551"/>
                </a:solidFill>
                <a:latin typeface="Calibri" pitchFamily="34" charset="0"/>
                <a:ea typeface="Calibri" pitchFamily="34" charset="-122"/>
                <a:cs typeface="Calibri" pitchFamily="34" charset="-120"/>
              </a:rPr>
              <a:t>The shift is to agentic AI</a:t>
            </a:r>
            <a:endParaRPr lang="en-US" sz="2450" dirty="0"/>
          </a:p>
        </p:txBody>
      </p:sp>
      <p:sp>
        <p:nvSpPr>
          <p:cNvPr id="6" name="Text 4"/>
          <p:cNvSpPr/>
          <p:nvPr/>
        </p:nvSpPr>
        <p:spPr>
          <a:xfrm>
            <a:off x="1508760" y="2423160"/>
            <a:ext cx="9784080" cy="548640"/>
          </a:xfrm>
          <a:prstGeom prst="rect">
            <a:avLst/>
          </a:prstGeom>
          <a:noFill/>
          <a:ln/>
        </p:spPr>
        <p:txBody>
          <a:bodyPr wrap="square" lIns="0" tIns="0" rIns="0" bIns="0" rtlCol="0" anchor="ctr"/>
          <a:lstStyle/>
          <a:p>
            <a:pPr marL="0" indent="0">
              <a:lnSpc>
                <a:spcPct val="110000"/>
              </a:lnSpc>
              <a:buNone/>
            </a:pPr>
            <a:r>
              <a:rPr lang="en-US" sz="1900" dirty="0">
                <a:solidFill>
                  <a:srgbClr val="3A3A3A"/>
                </a:solidFill>
                <a:latin typeface="Calibri" pitchFamily="34" charset="0"/>
                <a:ea typeface="Calibri" pitchFamily="34" charset="-122"/>
                <a:cs typeface="Calibri" pitchFamily="34" charset="-120"/>
              </a:rPr>
              <a:t>AI is moving from assistants you prompt toward systems that pursue a goal and act.</a:t>
            </a:r>
            <a:endParaRPr lang="en-US" sz="1900" dirty="0"/>
          </a:p>
        </p:txBody>
      </p:sp>
      <p:sp>
        <p:nvSpPr>
          <p:cNvPr id="7" name="Text 5"/>
          <p:cNvSpPr/>
          <p:nvPr/>
        </p:nvSpPr>
        <p:spPr>
          <a:xfrm>
            <a:off x="822960" y="3127248"/>
            <a:ext cx="548640" cy="640080"/>
          </a:xfrm>
          <a:prstGeom prst="rect">
            <a:avLst/>
          </a:prstGeom>
          <a:noFill/>
          <a:ln/>
        </p:spPr>
        <p:txBody>
          <a:bodyPr wrap="square" lIns="0" tIns="0" rIns="0" bIns="0" rtlCol="0" anchor="ctr"/>
          <a:lstStyle/>
          <a:p>
            <a:pPr marL="0" indent="0">
              <a:buNone/>
            </a:pPr>
            <a:r>
              <a:rPr lang="en-US" sz="3600" b="1" dirty="0">
                <a:solidFill>
                  <a:srgbClr val="0078D4"/>
                </a:solidFill>
                <a:latin typeface="Calibri" pitchFamily="34" charset="0"/>
                <a:ea typeface="Calibri" pitchFamily="34" charset="-122"/>
                <a:cs typeface="Calibri" pitchFamily="34" charset="-120"/>
              </a:rPr>
              <a:t>2</a:t>
            </a:r>
            <a:endParaRPr lang="en-US" sz="3600" dirty="0"/>
          </a:p>
        </p:txBody>
      </p:sp>
      <p:sp>
        <p:nvSpPr>
          <p:cNvPr id="8" name="Text 6"/>
          <p:cNvSpPr/>
          <p:nvPr/>
        </p:nvSpPr>
        <p:spPr>
          <a:xfrm>
            <a:off x="1508760" y="3108960"/>
            <a:ext cx="9692640" cy="411480"/>
          </a:xfrm>
          <a:prstGeom prst="rect">
            <a:avLst/>
          </a:prstGeom>
          <a:noFill/>
          <a:ln/>
        </p:spPr>
        <p:txBody>
          <a:bodyPr wrap="square" lIns="0" tIns="0" rIns="0" bIns="0" rtlCol="0" anchor="ctr"/>
          <a:lstStyle/>
          <a:p>
            <a:pPr marL="0" indent="0">
              <a:buNone/>
            </a:pPr>
            <a:r>
              <a:rPr lang="en-US" sz="2450" b="1" dirty="0">
                <a:solidFill>
                  <a:srgbClr val="1F3551"/>
                </a:solidFill>
                <a:latin typeface="Calibri" pitchFamily="34" charset="0"/>
                <a:ea typeface="Calibri" pitchFamily="34" charset="-122"/>
                <a:cs typeface="Calibri" pitchFamily="34" charset="-120"/>
              </a:rPr>
              <a:t>It's practical for us</a:t>
            </a:r>
            <a:endParaRPr lang="en-US" sz="2450" dirty="0"/>
          </a:p>
        </p:txBody>
      </p:sp>
      <p:sp>
        <p:nvSpPr>
          <p:cNvPr id="9" name="Text 7"/>
          <p:cNvSpPr/>
          <p:nvPr/>
        </p:nvSpPr>
        <p:spPr>
          <a:xfrm>
            <a:off x="1508760" y="3630168"/>
            <a:ext cx="9784080" cy="548640"/>
          </a:xfrm>
          <a:prstGeom prst="rect">
            <a:avLst/>
          </a:prstGeom>
          <a:noFill/>
          <a:ln/>
        </p:spPr>
        <p:txBody>
          <a:bodyPr wrap="square" lIns="0" tIns="0" rIns="0" bIns="0" rtlCol="0" anchor="ctr"/>
          <a:lstStyle/>
          <a:p>
            <a:pPr marL="0" indent="0">
              <a:lnSpc>
                <a:spcPct val="110000"/>
              </a:lnSpc>
              <a:buNone/>
            </a:pPr>
            <a:r>
              <a:rPr lang="en-US" sz="1900" dirty="0">
                <a:solidFill>
                  <a:srgbClr val="3A3A3A"/>
                </a:solidFill>
                <a:latin typeface="Calibri" pitchFamily="34" charset="0"/>
                <a:ea typeface="Calibri" pitchFamily="34" charset="-122"/>
                <a:cs typeface="Calibri" pitchFamily="34" charset="-120"/>
              </a:rPr>
              <a:t>Our own data, reached through standards like MCP, makes plain-language reporting and helpful assistants realistic for </a:t>
            </a:r>
            <a:r>
              <a:rPr lang="en-US" sz="1900" dirty="0" smtClean="0">
                <a:solidFill>
                  <a:srgbClr val="3A3A3A"/>
                </a:solidFill>
                <a:latin typeface="Calibri" pitchFamily="34" charset="0"/>
                <a:ea typeface="Calibri" pitchFamily="34" charset="-122"/>
                <a:cs typeface="Calibri" pitchFamily="34" charset="-120"/>
              </a:rPr>
              <a:t>App Development.</a:t>
            </a:r>
            <a:endParaRPr lang="en-US" sz="1900" dirty="0"/>
          </a:p>
        </p:txBody>
      </p:sp>
      <p:sp>
        <p:nvSpPr>
          <p:cNvPr id="10" name="Text 8"/>
          <p:cNvSpPr/>
          <p:nvPr/>
        </p:nvSpPr>
        <p:spPr>
          <a:xfrm>
            <a:off x="822960" y="4334256"/>
            <a:ext cx="548640" cy="640080"/>
          </a:xfrm>
          <a:prstGeom prst="rect">
            <a:avLst/>
          </a:prstGeom>
          <a:noFill/>
          <a:ln/>
        </p:spPr>
        <p:txBody>
          <a:bodyPr wrap="square" lIns="0" tIns="0" rIns="0" bIns="0" rtlCol="0" anchor="ctr"/>
          <a:lstStyle/>
          <a:p>
            <a:pPr marL="0" indent="0">
              <a:buNone/>
            </a:pPr>
            <a:r>
              <a:rPr lang="en-US" sz="3600" b="1" dirty="0">
                <a:solidFill>
                  <a:srgbClr val="0078D4"/>
                </a:solidFill>
                <a:latin typeface="Calibri" pitchFamily="34" charset="0"/>
                <a:ea typeface="Calibri" pitchFamily="34" charset="-122"/>
                <a:cs typeface="Calibri" pitchFamily="34" charset="-120"/>
              </a:rPr>
              <a:t>3</a:t>
            </a:r>
            <a:endParaRPr lang="en-US" sz="3600" dirty="0"/>
          </a:p>
        </p:txBody>
      </p:sp>
      <p:sp>
        <p:nvSpPr>
          <p:cNvPr id="11" name="Text 9"/>
          <p:cNvSpPr/>
          <p:nvPr/>
        </p:nvSpPr>
        <p:spPr>
          <a:xfrm>
            <a:off x="1508760" y="4315968"/>
            <a:ext cx="9692640" cy="411480"/>
          </a:xfrm>
          <a:prstGeom prst="rect">
            <a:avLst/>
          </a:prstGeom>
          <a:noFill/>
          <a:ln/>
        </p:spPr>
        <p:txBody>
          <a:bodyPr wrap="square" lIns="0" tIns="0" rIns="0" bIns="0" rtlCol="0" anchor="ctr"/>
          <a:lstStyle/>
          <a:p>
            <a:pPr marL="0" indent="0">
              <a:buNone/>
            </a:pPr>
            <a:r>
              <a:rPr lang="en-US" sz="2450" b="1" dirty="0">
                <a:solidFill>
                  <a:srgbClr val="1F3551"/>
                </a:solidFill>
                <a:latin typeface="Calibri" pitchFamily="34" charset="0"/>
                <a:ea typeface="Calibri" pitchFamily="34" charset="-122"/>
                <a:cs typeface="Calibri" pitchFamily="34" charset="-120"/>
              </a:rPr>
              <a:t>Adopt it deliberately</a:t>
            </a:r>
            <a:endParaRPr lang="en-US" sz="2450" dirty="0"/>
          </a:p>
        </p:txBody>
      </p:sp>
      <p:sp>
        <p:nvSpPr>
          <p:cNvPr id="12" name="Text 10"/>
          <p:cNvSpPr/>
          <p:nvPr/>
        </p:nvSpPr>
        <p:spPr>
          <a:xfrm>
            <a:off x="1508760" y="4837176"/>
            <a:ext cx="9784080" cy="548640"/>
          </a:xfrm>
          <a:prstGeom prst="rect">
            <a:avLst/>
          </a:prstGeom>
          <a:noFill/>
          <a:ln/>
        </p:spPr>
        <p:txBody>
          <a:bodyPr wrap="square" lIns="0" tIns="0" rIns="0" bIns="0" rtlCol="0" anchor="ctr"/>
          <a:lstStyle/>
          <a:p>
            <a:pPr marL="0" indent="0">
              <a:lnSpc>
                <a:spcPct val="110000"/>
              </a:lnSpc>
              <a:buNone/>
            </a:pPr>
            <a:r>
              <a:rPr lang="en-US" sz="1900" dirty="0">
                <a:solidFill>
                  <a:srgbClr val="3A3A3A"/>
                </a:solidFill>
                <a:latin typeface="Calibri" pitchFamily="34" charset="0"/>
                <a:ea typeface="Calibri" pitchFamily="34" charset="-122"/>
                <a:cs typeface="Calibri" pitchFamily="34" charset="-120"/>
              </a:rPr>
              <a:t>Start small, keep people in the loop, and stay mindful of cost and governance.</a:t>
            </a:r>
            <a:endParaRPr lang="en-US" sz="1900" dirty="0"/>
          </a:p>
        </p:txBody>
      </p:sp>
      <p:sp>
        <p:nvSpPr>
          <p:cNvPr id="13" name="Text 11"/>
          <p:cNvSpPr/>
          <p:nvPr/>
        </p:nvSpPr>
        <p:spPr>
          <a:xfrm>
            <a:off x="822960" y="5897880"/>
            <a:ext cx="10515600" cy="457200"/>
          </a:xfrm>
          <a:prstGeom prst="rect">
            <a:avLst/>
          </a:prstGeom>
          <a:noFill/>
          <a:ln/>
        </p:spPr>
        <p:txBody>
          <a:bodyPr wrap="square" lIns="0" tIns="0" rIns="0" bIns="0" rtlCol="0" anchor="ctr"/>
          <a:lstStyle/>
          <a:p>
            <a:pPr marL="0" indent="0">
              <a:buNone/>
            </a:pPr>
            <a:endParaRPr lang="en-US" sz="2200" dirty="0"/>
          </a:p>
        </p:txBody>
      </p:sp>
      <p:sp>
        <p:nvSpPr>
          <p:cNvPr id="14" name="Text 12"/>
          <p:cNvSpPr/>
          <p:nvPr/>
        </p:nvSpPr>
        <p:spPr>
          <a:xfrm>
            <a:off x="822960" y="6455664"/>
            <a:ext cx="548640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Microsoft Build 2026  ·  </a:t>
            </a:r>
            <a:r>
              <a:rPr lang="en-US" sz="1150" dirty="0" smtClean="0">
                <a:solidFill>
                  <a:srgbClr val="6B7280"/>
                </a:solidFill>
                <a:latin typeface="Calibri" pitchFamily="34" charset="0"/>
                <a:ea typeface="Calibri" pitchFamily="34" charset="-122"/>
                <a:cs typeface="Calibri" pitchFamily="34" charset="-120"/>
              </a:rPr>
              <a:t>Summary</a:t>
            </a:r>
            <a:endParaRPr lang="en-US" sz="1150" dirty="0"/>
          </a:p>
        </p:txBody>
      </p:sp>
      <p:sp>
        <p:nvSpPr>
          <p:cNvPr id="15" name="Text 13"/>
          <p:cNvSpPr/>
          <p:nvPr/>
        </p:nvSpPr>
        <p:spPr>
          <a:xfrm>
            <a:off x="10911535" y="6455664"/>
            <a:ext cx="457200" cy="274320"/>
          </a:xfrm>
          <a:prstGeom prst="rect">
            <a:avLst/>
          </a:prstGeom>
          <a:noFill/>
          <a:ln/>
        </p:spPr>
        <p:txBody>
          <a:bodyPr wrap="square" lIns="0" tIns="0" rIns="0" bIns="0" rtlCol="0" anchor="ctr"/>
          <a:lstStyle/>
          <a:p>
            <a:pPr marL="0" indent="0" algn="r">
              <a:buNone/>
            </a:pPr>
            <a:r>
              <a:rPr lang="en-US" sz="1150" dirty="0">
                <a:solidFill>
                  <a:srgbClr val="6B7280"/>
                </a:solidFill>
                <a:latin typeface="Calibri" pitchFamily="34" charset="0"/>
                <a:ea typeface="Calibri" pitchFamily="34" charset="-122"/>
                <a:cs typeface="Calibri" pitchFamily="34" charset="-120"/>
              </a:rPr>
              <a:t>19</a:t>
            </a:r>
            <a:endParaRPr lang="en-US" sz="11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5733" y="1015876"/>
            <a:ext cx="8420533" cy="4826248"/>
          </a:xfrm>
          <a:prstGeom prst="rect">
            <a:avLst/>
          </a:prstGeom>
        </p:spPr>
      </p:pic>
    </p:spTree>
    <p:extLst>
      <p:ext uri="{BB962C8B-B14F-4D97-AF65-F5344CB8AC3E}">
        <p14:creationId xmlns:p14="http://schemas.microsoft.com/office/powerpoint/2010/main" val="35085629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4679" y="1880945"/>
            <a:ext cx="3206915" cy="4115011"/>
          </a:xfrm>
          <a:prstGeom prst="rect">
            <a:avLst/>
          </a:prstGeom>
        </p:spPr>
      </p:pic>
      <p:pic>
        <p:nvPicPr>
          <p:cNvPr id="3" name="Picture 2"/>
          <p:cNvPicPr>
            <a:picLocks noChangeAspect="1"/>
          </p:cNvPicPr>
          <p:nvPr/>
        </p:nvPicPr>
        <p:blipFill>
          <a:blip r:embed="rId3"/>
          <a:stretch>
            <a:fillRect/>
          </a:stretch>
        </p:blipFill>
        <p:spPr>
          <a:xfrm>
            <a:off x="4496080" y="1880945"/>
            <a:ext cx="3225966" cy="4115011"/>
          </a:xfrm>
          <a:prstGeom prst="rect">
            <a:avLst/>
          </a:prstGeom>
        </p:spPr>
      </p:pic>
      <p:sp>
        <p:nvSpPr>
          <p:cNvPr id="4" name="Text 1"/>
          <p:cNvSpPr/>
          <p:nvPr/>
        </p:nvSpPr>
        <p:spPr>
          <a:xfrm>
            <a:off x="822960" y="749808"/>
            <a:ext cx="10545775" cy="868680"/>
          </a:xfrm>
          <a:prstGeom prst="rect">
            <a:avLst/>
          </a:prstGeom>
          <a:noFill/>
          <a:ln/>
        </p:spPr>
        <p:txBody>
          <a:bodyPr wrap="square" lIns="0" tIns="0" rIns="0" bIns="0" rtlCol="0" anchor="ctr"/>
          <a:lstStyle/>
          <a:p>
            <a:pPr marL="0" indent="0">
              <a:buNone/>
            </a:pPr>
            <a:r>
              <a:rPr lang="en-US" sz="3700" b="1" dirty="0" err="1" smtClean="0">
                <a:solidFill>
                  <a:srgbClr val="1F3551"/>
                </a:solidFill>
                <a:latin typeface="Calibri" pitchFamily="34" charset="0"/>
                <a:ea typeface="Calibri" pitchFamily="34" charset="-122"/>
                <a:cs typeface="Calibri" pitchFamily="34" charset="-120"/>
              </a:rPr>
              <a:t>Waymo</a:t>
            </a:r>
            <a:endParaRPr lang="en-US" sz="3700" dirty="0"/>
          </a:p>
        </p:txBody>
      </p:sp>
    </p:spTree>
    <p:extLst>
      <p:ext uri="{BB962C8B-B14F-4D97-AF65-F5344CB8AC3E}">
        <p14:creationId xmlns:p14="http://schemas.microsoft.com/office/powerpoint/2010/main" val="31819052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387409" y="930146"/>
            <a:ext cx="7417181" cy="4997707"/>
          </a:xfrm>
          <a:prstGeom prst="rect">
            <a:avLst/>
          </a:prstGeom>
        </p:spPr>
      </p:pic>
    </p:spTree>
    <p:extLst>
      <p:ext uri="{BB962C8B-B14F-4D97-AF65-F5344CB8AC3E}">
        <p14:creationId xmlns:p14="http://schemas.microsoft.com/office/powerpoint/2010/main" val="30798815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09705" y="1730287"/>
            <a:ext cx="7470763" cy="4134936"/>
          </a:xfrm>
          <a:prstGeom prst="rect">
            <a:avLst/>
          </a:prstGeom>
        </p:spPr>
      </p:pic>
    </p:spTree>
    <p:extLst>
      <p:ext uri="{BB962C8B-B14F-4D97-AF65-F5344CB8AC3E}">
        <p14:creationId xmlns:p14="http://schemas.microsoft.com/office/powerpoint/2010/main" val="2881044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68429" y="901570"/>
            <a:ext cx="6655142" cy="5054860"/>
          </a:xfrm>
          <a:prstGeom prst="rect">
            <a:avLst/>
          </a:prstGeom>
        </p:spPr>
      </p:pic>
    </p:spTree>
    <p:extLst>
      <p:ext uri="{BB962C8B-B14F-4D97-AF65-F5344CB8AC3E}">
        <p14:creationId xmlns:p14="http://schemas.microsoft.com/office/powerpoint/2010/main" val="1914836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11487" y="844417"/>
            <a:ext cx="4369025" cy="5169166"/>
          </a:xfrm>
          <a:prstGeom prst="rect">
            <a:avLst/>
          </a:prstGeom>
        </p:spPr>
      </p:pic>
    </p:spTree>
    <p:extLst>
      <p:ext uri="{BB962C8B-B14F-4D97-AF65-F5344CB8AC3E}">
        <p14:creationId xmlns:p14="http://schemas.microsoft.com/office/powerpoint/2010/main" val="4181014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20625" y="638031"/>
            <a:ext cx="8750750" cy="5581937"/>
          </a:xfrm>
          <a:prstGeom prst="rect">
            <a:avLst/>
          </a:prstGeom>
        </p:spPr>
      </p:pic>
    </p:spTree>
    <p:extLst>
      <p:ext uri="{BB962C8B-B14F-4D97-AF65-F5344CB8AC3E}">
        <p14:creationId xmlns:p14="http://schemas.microsoft.com/office/powerpoint/2010/main" val="23902502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20766" y="1009525"/>
            <a:ext cx="7150467" cy="4838949"/>
          </a:xfrm>
          <a:prstGeom prst="rect">
            <a:avLst/>
          </a:prstGeom>
        </p:spPr>
      </p:pic>
    </p:spTree>
    <p:extLst>
      <p:ext uri="{BB962C8B-B14F-4D97-AF65-F5344CB8AC3E}">
        <p14:creationId xmlns:p14="http://schemas.microsoft.com/office/powerpoint/2010/main" val="566740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77954" y="920621"/>
            <a:ext cx="6636091" cy="5016758"/>
          </a:xfrm>
          <a:prstGeom prst="rect">
            <a:avLst/>
          </a:prstGeom>
        </p:spPr>
      </p:pic>
    </p:spTree>
    <p:extLst>
      <p:ext uri="{BB962C8B-B14F-4D97-AF65-F5344CB8AC3E}">
        <p14:creationId xmlns:p14="http://schemas.microsoft.com/office/powerpoint/2010/main" val="3116786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85733" y="1225437"/>
            <a:ext cx="8420533" cy="4407126"/>
          </a:xfrm>
          <a:prstGeom prst="rect">
            <a:avLst/>
          </a:prstGeom>
        </p:spPr>
      </p:pic>
    </p:spTree>
    <p:extLst>
      <p:ext uri="{BB962C8B-B14F-4D97-AF65-F5344CB8AC3E}">
        <p14:creationId xmlns:p14="http://schemas.microsoft.com/office/powerpoint/2010/main" val="11416446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34931" y="1187335"/>
            <a:ext cx="8522138" cy="4483330"/>
          </a:xfrm>
          <a:prstGeom prst="rect">
            <a:avLst/>
          </a:prstGeom>
        </p:spPr>
      </p:pic>
    </p:spTree>
    <p:extLst>
      <p:ext uri="{BB962C8B-B14F-4D97-AF65-F5344CB8AC3E}">
        <p14:creationId xmlns:p14="http://schemas.microsoft.com/office/powerpoint/2010/main" val="1567286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2264770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2013504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514600" y="857250"/>
            <a:ext cx="6858000" cy="5143500"/>
          </a:xfrm>
          <a:prstGeom prst="rect">
            <a:avLst/>
          </a:prstGeom>
        </p:spPr>
      </p:pic>
    </p:spTree>
    <p:extLst>
      <p:ext uri="{BB962C8B-B14F-4D97-AF65-F5344CB8AC3E}">
        <p14:creationId xmlns:p14="http://schemas.microsoft.com/office/powerpoint/2010/main" val="2565096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613</TotalTime>
  <Words>3179</Words>
  <Application>Microsoft Office PowerPoint</Application>
  <PresentationFormat>Widescreen</PresentationFormat>
  <Paragraphs>275</Paragraphs>
  <Slides>33</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Build 2026 Readout (v3)</dc:title>
  <dc:subject>PptxGenJS Presentation</dc:subject>
  <dc:creator>Merra Kokebie</dc:creator>
  <cp:lastModifiedBy>Microsoft account</cp:lastModifiedBy>
  <cp:revision>8</cp:revision>
  <dcterms:created xsi:type="dcterms:W3CDTF">2026-06-21T17:26:20Z</dcterms:created>
  <dcterms:modified xsi:type="dcterms:W3CDTF">2026-06-22T04:10:36Z</dcterms:modified>
</cp:coreProperties>
</file>