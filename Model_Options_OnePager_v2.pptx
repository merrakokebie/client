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11274552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lang="en-US" sz="3000" b="1" dirty="0" smtClean="0">
                <a:solidFill>
                  <a:srgbClr val="1F3551"/>
                </a:solidFill>
                <a:latin typeface="Calibri"/>
              </a:rPr>
              <a:t>Enterprise AI Adoption Models</a:t>
            </a:r>
            <a:endParaRPr sz="3000" b="1" dirty="0">
              <a:solidFill>
                <a:srgbClr val="1F3551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877824"/>
            <a:ext cx="11274552" cy="310896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1400" b="0" dirty="0">
                <a:solidFill>
                  <a:srgbClr val="6B7280"/>
                </a:solidFill>
                <a:latin typeface="Calibri"/>
              </a:rPr>
              <a:t>Four ways to put GPT / Claude / Gemini to work, ordered by how much of </a:t>
            </a:r>
            <a:r>
              <a:rPr lang="en-US" sz="1400" b="0" dirty="0" smtClean="0">
                <a:solidFill>
                  <a:srgbClr val="6B7280"/>
                </a:solidFill>
                <a:latin typeface="Calibri"/>
              </a:rPr>
              <a:t>the data </a:t>
            </a:r>
            <a:r>
              <a:rPr sz="1400" b="0" dirty="0" smtClean="0">
                <a:solidFill>
                  <a:srgbClr val="6B7280"/>
                </a:solidFill>
                <a:latin typeface="Calibri"/>
              </a:rPr>
              <a:t>stays </a:t>
            </a:r>
            <a:r>
              <a:rPr sz="1400" b="0" dirty="0">
                <a:solidFill>
                  <a:srgbClr val="6B7280"/>
                </a:solidFill>
                <a:latin typeface="Calibri"/>
              </a:rPr>
              <a:t>inside </a:t>
            </a:r>
            <a:r>
              <a:rPr lang="en-US" sz="1400" dirty="0" smtClean="0">
                <a:solidFill>
                  <a:srgbClr val="6B7280"/>
                </a:solidFill>
                <a:latin typeface="Calibri"/>
              </a:rPr>
              <a:t>the organization</a:t>
            </a:r>
            <a:r>
              <a:rPr sz="1400" b="0" dirty="0" smtClean="0">
                <a:solidFill>
                  <a:srgbClr val="6B7280"/>
                </a:solidFill>
                <a:latin typeface="Calibri"/>
              </a:rPr>
              <a:t>.</a:t>
            </a:r>
            <a:endParaRPr sz="14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17922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490472"/>
            <a:ext cx="3611880" cy="29260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/>
            <a:r>
              <a:rPr sz="1450" b="1">
                <a:solidFill>
                  <a:srgbClr val="1F3551"/>
                </a:solidFill>
                <a:latin typeface="Calibri"/>
              </a:rPr>
              <a:t>1 · Consumer chat / Pro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361188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5000"/>
              </a:lnSpc>
            </a:pPr>
            <a:r>
              <a:rPr lang="en-US" sz="950" b="0" dirty="0" smtClean="0">
                <a:solidFill>
                  <a:srgbClr val="5A6472"/>
                </a:solidFill>
                <a:latin typeface="Calibri"/>
              </a:rPr>
              <a:t>Directly using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ChatGPT.com 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or Claude.ai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 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— </a:t>
            </a:r>
            <a:r>
              <a:rPr lang="en-US" sz="950" b="0" dirty="0" smtClean="0">
                <a:solidFill>
                  <a:srgbClr val="5A6472"/>
                </a:solidFill>
                <a:latin typeface="Calibri"/>
              </a:rPr>
              <a:t>without any review of privacy setting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. </a:t>
            </a:r>
            <a:endParaRPr sz="95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800600" y="1527048"/>
            <a:ext cx="233172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YOU CONTRACT WITH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55648"/>
            <a:ext cx="233172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551"/>
                </a:solidFill>
                <a:latin typeface="Calibri"/>
              </a:rPr>
              <a:t>No one — personal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527048"/>
            <a:ext cx="310896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KEY TRADEOFF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746504"/>
            <a:ext cx="3310128" cy="60350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969" b="0" dirty="0">
                <a:solidFill>
                  <a:srgbClr val="3A3A3A"/>
                </a:solidFill>
                <a:latin typeface="Calibri"/>
              </a:rPr>
              <a:t>Free &amp; familiar, but consumer tiers can train on </a:t>
            </a:r>
            <a:r>
              <a:rPr lang="en-US" sz="969" b="0" dirty="0" smtClean="0">
                <a:solidFill>
                  <a:srgbClr val="3A3A3A"/>
                </a:solidFill>
                <a:latin typeface="Calibri"/>
              </a:rPr>
              <a:t>the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data</a:t>
            </a:r>
            <a:r>
              <a:rPr lang="en-US" sz="969" b="0" dirty="0" smtClean="0">
                <a:solidFill>
                  <a:srgbClr val="3A3A3A"/>
                </a:solidFill>
                <a:latin typeface="Calibri"/>
              </a:rPr>
              <a:t> depending on settings</a:t>
            </a:r>
            <a:r>
              <a:rPr lang="en-US" sz="969" dirty="0">
                <a:solidFill>
                  <a:srgbClr val="3A3A3A"/>
                </a:solidFill>
                <a:latin typeface="Calibri"/>
              </a:rPr>
              <a:t> </a:t>
            </a:r>
            <a:r>
              <a:rPr lang="en-US" sz="969" dirty="0" smtClean="0">
                <a:solidFill>
                  <a:srgbClr val="3A3A3A"/>
                </a:solidFill>
                <a:latin typeface="Calibri"/>
              </a:rPr>
              <a:t>and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leave no audit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trail.</a:t>
            </a:r>
            <a:endParaRPr sz="969" b="0" dirty="0">
              <a:solidFill>
                <a:srgbClr val="3A3A3A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80192" y="1965960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27080" y="1965960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173967" y="1965960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20856" y="1965960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67744" y="1965960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661904" y="2130552"/>
            <a:ext cx="155448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Data control: 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42032"/>
            <a:ext cx="1127455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" y="296265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2660903"/>
            <a:ext cx="3611880" cy="29260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/>
            <a:r>
              <a:rPr sz="1450" b="1">
                <a:solidFill>
                  <a:srgbClr val="1F3551"/>
                </a:solidFill>
                <a:latin typeface="Calibri"/>
              </a:rPr>
              <a:t>2 · Direct deal with a model provider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2953512"/>
            <a:ext cx="361188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A6472"/>
                </a:solidFill>
                <a:latin typeface="Calibri"/>
              </a:rPr>
              <a:t>Sign a commercial agreement with </a:t>
            </a:r>
            <a:r>
              <a:rPr sz="950" b="0" dirty="0" err="1">
                <a:solidFill>
                  <a:srgbClr val="5A6472"/>
                </a:solidFill>
                <a:latin typeface="Calibri"/>
              </a:rPr>
              <a:t>OpenAI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 / Anthropic and call their API from an app </a:t>
            </a:r>
            <a:r>
              <a:rPr lang="en-US" sz="950" b="0" dirty="0" smtClean="0">
                <a:solidFill>
                  <a:srgbClr val="5A6472"/>
                </a:solidFill>
                <a:latin typeface="Calibri"/>
              </a:rPr>
              <a:t>locally built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 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&amp;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run.</a:t>
            </a:r>
            <a:endParaRPr sz="95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00600" y="2697479"/>
            <a:ext cx="233172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YOU CONTRACT WITH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926079"/>
            <a:ext cx="233172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551"/>
                </a:solidFill>
                <a:latin typeface="Calibri"/>
              </a:rPr>
              <a:t>The model provider directly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697479"/>
            <a:ext cx="310896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KEY TRADEOFF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916936"/>
            <a:ext cx="3310128" cy="60350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969" b="0" dirty="0">
                <a:solidFill>
                  <a:srgbClr val="3A3A3A"/>
                </a:solidFill>
                <a:latin typeface="Calibri"/>
              </a:rPr>
              <a:t>Strong terms (no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training)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— but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carry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the risk, cost &amp; hassle of building the front-end app, and data still leaves </a:t>
            </a:r>
            <a:r>
              <a:rPr lang="en-US" sz="969" b="0" dirty="0" smtClean="0">
                <a:solidFill>
                  <a:srgbClr val="3A3A3A"/>
                </a:solidFill>
                <a:latin typeface="Calibri"/>
              </a:rPr>
              <a:t>the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perimeter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80192" y="3136391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27080" y="3136391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173967" y="3136391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20856" y="3136391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667744" y="3136391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661904" y="3300984"/>
            <a:ext cx="155448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Data control: 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12463"/>
            <a:ext cx="11274552" cy="1024128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76656" y="4133087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05840" y="3831335"/>
            <a:ext cx="3611880" cy="29260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/>
            <a:r>
              <a:rPr sz="1450" b="1" dirty="0">
                <a:solidFill>
                  <a:srgbClr val="1F3551"/>
                </a:solidFill>
                <a:latin typeface="Calibri"/>
              </a:rPr>
              <a:t>3 · Cloud-hosted in </a:t>
            </a:r>
            <a:r>
              <a:rPr lang="en-US" sz="1450" b="1" dirty="0" smtClean="0">
                <a:solidFill>
                  <a:srgbClr val="1F3551"/>
                </a:solidFill>
                <a:latin typeface="Calibri"/>
              </a:rPr>
              <a:t>enterprise </a:t>
            </a:r>
            <a:r>
              <a:rPr sz="1450" b="1" dirty="0" smtClean="0">
                <a:solidFill>
                  <a:srgbClr val="1F3551"/>
                </a:solidFill>
                <a:latin typeface="Calibri"/>
              </a:rPr>
              <a:t>tenant</a:t>
            </a:r>
            <a:endParaRPr sz="1450" b="1" dirty="0">
              <a:solidFill>
                <a:srgbClr val="1F3551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05840" y="4123944"/>
            <a:ext cx="361188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A6472"/>
                </a:solidFill>
                <a:latin typeface="Calibri"/>
              </a:rPr>
              <a:t>Foundry / Bedrock / Vertex host the model;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data 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is processed inside </a:t>
            </a:r>
            <a:r>
              <a:rPr lang="en-US" sz="950" b="0" dirty="0" smtClean="0">
                <a:solidFill>
                  <a:srgbClr val="5A6472"/>
                </a:solidFill>
                <a:latin typeface="Calibri"/>
              </a:rPr>
              <a:t>company’s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Azure 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tenant.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3867911"/>
            <a:ext cx="233172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YOU CONTRACT WITH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4096511"/>
            <a:ext cx="233172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lang="en-US" sz="1200" b="1" dirty="0" smtClean="0">
                <a:solidFill>
                  <a:srgbClr val="1F3551"/>
                </a:solidFill>
                <a:latin typeface="Calibri"/>
              </a:rPr>
              <a:t>Cloud </a:t>
            </a:r>
            <a:r>
              <a:rPr sz="1200" b="1" dirty="0" smtClean="0">
                <a:solidFill>
                  <a:srgbClr val="1F3551"/>
                </a:solidFill>
                <a:latin typeface="Calibri"/>
              </a:rPr>
              <a:t>provider </a:t>
            </a:r>
            <a:r>
              <a:rPr sz="1200" b="1" dirty="0">
                <a:solidFill>
                  <a:srgbClr val="1F3551"/>
                </a:solidFill>
                <a:latin typeface="Calibri"/>
              </a:rPr>
              <a:t>(MS / AWS / Google)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3867911"/>
            <a:ext cx="310896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KEY TRADEOFF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4087368"/>
            <a:ext cx="3310128" cy="60350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969" b="0" dirty="0">
                <a:solidFill>
                  <a:srgbClr val="3A3A3A"/>
                </a:solidFill>
                <a:latin typeface="Calibri"/>
              </a:rPr>
              <a:t>Frontier models + </a:t>
            </a:r>
            <a:r>
              <a:rPr sz="969" b="0" dirty="0" err="1">
                <a:solidFill>
                  <a:srgbClr val="3A3A3A"/>
                </a:solidFill>
                <a:latin typeface="Calibri"/>
              </a:rPr>
              <a:t>VNet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, </a:t>
            </a:r>
            <a:r>
              <a:rPr sz="969" b="0" dirty="0" err="1">
                <a:solidFill>
                  <a:srgbClr val="3A3A3A"/>
                </a:solidFill>
                <a:latin typeface="Calibri"/>
              </a:rPr>
              <a:t>Entra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, Purview, audit logs &amp; managed RAG — and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inherit existing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agreements. Still cloud; some features in preview.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80192" y="4306824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927080" y="4306824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173967" y="4306824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20856" y="4306824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667744" y="4306824"/>
            <a:ext cx="192024" cy="118872"/>
          </a:xfrm>
          <a:prstGeom prst="rect">
            <a:avLst/>
          </a:prstGeom>
          <a:solidFill>
            <a:srgbClr val="D7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661904" y="4471416"/>
            <a:ext cx="155448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Data control: High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882896"/>
            <a:ext cx="1127455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76656" y="53035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05840" y="5001768"/>
            <a:ext cx="3611880" cy="29260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l"/>
            <a:r>
              <a:rPr sz="1450" b="1" dirty="0">
                <a:solidFill>
                  <a:srgbClr val="1F3551"/>
                </a:solidFill>
                <a:latin typeface="Calibri"/>
              </a:rPr>
              <a:t>4 · Self-hosted </a:t>
            </a:r>
            <a:r>
              <a:rPr lang="en-US" sz="1450" b="1" smtClean="0">
                <a:solidFill>
                  <a:srgbClr val="1F3551"/>
                </a:solidFill>
                <a:latin typeface="Calibri"/>
              </a:rPr>
              <a:t>Local Language Models (LLMs)</a:t>
            </a:r>
            <a:endParaRPr sz="1450" b="1" dirty="0">
              <a:solidFill>
                <a:srgbClr val="1F3551"/>
              </a:solidFill>
              <a:latin typeface="Calibr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005840" y="5294376"/>
            <a:ext cx="361188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A6472"/>
                </a:solidFill>
                <a:latin typeface="Calibri"/>
              </a:rPr>
              <a:t>Run an open model (Llama, Mistral, </a:t>
            </a:r>
            <a:r>
              <a:rPr sz="950" b="0" dirty="0" err="1">
                <a:solidFill>
                  <a:srgbClr val="5A6472"/>
                </a:solidFill>
                <a:latin typeface="Calibri"/>
              </a:rPr>
              <a:t>gpt-oss</a:t>
            </a:r>
            <a:r>
              <a:rPr sz="950" b="0" dirty="0">
                <a:solidFill>
                  <a:srgbClr val="5A6472"/>
                </a:solidFill>
                <a:latin typeface="Calibri"/>
              </a:rPr>
              <a:t>) on hardware </a:t>
            </a:r>
            <a:r>
              <a:rPr lang="en-US" sz="950" b="0" dirty="0" smtClean="0">
                <a:solidFill>
                  <a:srgbClr val="5A6472"/>
                </a:solidFill>
                <a:latin typeface="Calibri"/>
              </a:rPr>
              <a:t>the company owns </a:t>
            </a:r>
            <a:r>
              <a:rPr sz="950" b="0" dirty="0" smtClean="0">
                <a:solidFill>
                  <a:srgbClr val="5A6472"/>
                </a:solidFill>
                <a:latin typeface="Calibri"/>
              </a:rPr>
              <a:t>.</a:t>
            </a:r>
            <a:endParaRPr sz="95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800600" y="5038344"/>
            <a:ext cx="233172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YOU CONTRACT WITH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00600" y="5266944"/>
            <a:ext cx="233172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551"/>
                </a:solidFill>
                <a:latin typeface="Calibri"/>
              </a:rPr>
              <a:t>No one — we own it (open license)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5038344"/>
            <a:ext cx="310896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900" b="1" spc="60">
                <a:solidFill>
                  <a:srgbClr val="0078D4"/>
                </a:solidFill>
                <a:latin typeface="Calibri"/>
              </a:rPr>
              <a:t>KEY TRADEOFF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60920" y="5257800"/>
            <a:ext cx="3310128" cy="60350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r>
              <a:rPr sz="969" b="0" dirty="0">
                <a:solidFill>
                  <a:srgbClr val="3A3A3A"/>
                </a:solidFill>
                <a:latin typeface="Calibri"/>
              </a:rPr>
              <a:t>Data never leaves </a:t>
            </a:r>
            <a:r>
              <a:rPr lang="en-US" sz="969" b="0" dirty="0" smtClean="0">
                <a:solidFill>
                  <a:srgbClr val="3A3A3A"/>
                </a:solidFill>
                <a:latin typeface="Calibri"/>
              </a:rPr>
              <a:t>company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walls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and works offline. But open models trail the frontier and </a:t>
            </a:r>
            <a:r>
              <a:rPr lang="en-US" sz="969" b="0" dirty="0" smtClean="0">
                <a:solidFill>
                  <a:srgbClr val="3A3A3A"/>
                </a:solidFill>
                <a:latin typeface="Calibri"/>
              </a:rPr>
              <a:t>company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own </a:t>
            </a:r>
            <a:r>
              <a:rPr sz="969" b="0" dirty="0">
                <a:solidFill>
                  <a:srgbClr val="3A3A3A"/>
                </a:solidFill>
                <a:latin typeface="Calibri"/>
              </a:rPr>
              <a:t>all the GPUs, ops &amp; </a:t>
            </a:r>
            <a:r>
              <a:rPr sz="969" b="0" dirty="0" smtClean="0">
                <a:solidFill>
                  <a:srgbClr val="3A3A3A"/>
                </a:solidFill>
                <a:latin typeface="Calibri"/>
              </a:rPr>
              <a:t>patching</a:t>
            </a:r>
            <a:r>
              <a:rPr lang="en-US" sz="969" dirty="0">
                <a:solidFill>
                  <a:srgbClr val="3A3A3A"/>
                </a:solidFill>
              </a:rPr>
              <a:t> and </a:t>
            </a:r>
            <a:r>
              <a:rPr lang="en-US" sz="969" dirty="0" smtClean="0">
                <a:solidFill>
                  <a:srgbClr val="3A3A3A"/>
                </a:solidFill>
              </a:rPr>
              <a:t>carry </a:t>
            </a:r>
            <a:r>
              <a:rPr lang="en-US" sz="969" dirty="0">
                <a:solidFill>
                  <a:srgbClr val="3A3A3A"/>
                </a:solidFill>
              </a:rPr>
              <a:t>the risk, cost &amp; hassle of building the front-end </a:t>
            </a:r>
            <a:r>
              <a:rPr lang="en-US" sz="969" dirty="0" smtClean="0">
                <a:solidFill>
                  <a:srgbClr val="3A3A3A"/>
                </a:solidFill>
              </a:rPr>
              <a:t>app.</a:t>
            </a:r>
            <a:endParaRPr lang="en-US" sz="969" dirty="0">
              <a:solidFill>
                <a:srgbClr val="3A3A3A"/>
              </a:solidFill>
            </a:endParaRPr>
          </a:p>
          <a:p>
            <a:pPr algn="l">
              <a:lnSpc>
                <a:spcPct val="100000"/>
              </a:lnSpc>
            </a:pPr>
            <a:endParaRPr sz="969" b="0" dirty="0">
              <a:solidFill>
                <a:srgbClr val="3A3A3A"/>
              </a:solidFill>
              <a:latin typeface="Calibr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0661904" y="5029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ctr"/>
          <a:lstStyle/>
          <a:p>
            <a:pPr algn="ctr"/>
            <a:r>
              <a:rPr sz="1050" b="1">
                <a:solidFill>
                  <a:srgbClr val="5A6472"/>
                </a:solidFill>
                <a:latin typeface="Calibri"/>
              </a:rPr>
              <a:t>Special cases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80192" y="5477256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27080" y="5477256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173967" y="5477256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420856" y="5477256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667744" y="5477256"/>
            <a:ext cx="192024" cy="11887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661904" y="5641848"/>
            <a:ext cx="1554480" cy="18288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Data control: Highest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307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2026-06-23T01:33:20Z</dcterms:modified>
  <cp:category/>
</cp:coreProperties>
</file>